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256" r:id="rId2"/>
    <p:sldId id="316" r:id="rId3"/>
    <p:sldId id="317" r:id="rId4"/>
    <p:sldId id="299" r:id="rId5"/>
    <p:sldId id="260" r:id="rId6"/>
    <p:sldId id="300" r:id="rId7"/>
    <p:sldId id="301" r:id="rId8"/>
    <p:sldId id="309" r:id="rId9"/>
    <p:sldId id="308" r:id="rId10"/>
    <p:sldId id="279" r:id="rId11"/>
    <p:sldId id="272" r:id="rId12"/>
    <p:sldId id="269" r:id="rId13"/>
    <p:sldId id="304" r:id="rId14"/>
    <p:sldId id="311" r:id="rId15"/>
    <p:sldId id="315" r:id="rId16"/>
    <p:sldId id="296" r:id="rId17"/>
    <p:sldId id="294" r:id="rId18"/>
    <p:sldId id="274" r:id="rId1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B8B14-B55B-4664-AE54-742ED0A2902D}" v="1" dt="2026-04-10T03:15:3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E16A9-1BDC-43B3-920F-EA852EC4342A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C1289-13FE-4095-A8BE-A3B4E7CE7A7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203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F5EF-E703-9CE0-B177-C92E94EC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D0239-94B7-6597-96EF-61F356409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0D0EA-20C2-0483-F885-70677A29E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7B3DA-401F-C035-81B3-99218D6FF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860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C1289-13FE-4095-A8BE-A3B4E7CE7A78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920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C1289-13FE-4095-A8BE-A3B4E7CE7A78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920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C1289-13FE-4095-A8BE-A3B4E7CE7A78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792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156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7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3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38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836" r:id="rId2"/>
    <p:sldLayoutId id="2147483837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laris-demo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4297680" y="0"/>
            <a:ext cx="3200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84048" y="14630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84048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Social Vecinal Multiplataforma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2798064"/>
            <a:ext cx="3200400" cy="228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4048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Pinilla</a:t>
            </a:r>
            <a:endParaRPr 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González</a:t>
            </a:r>
            <a:endParaRPr lang="en-US" sz="1600" dirty="0"/>
          </a:p>
        </p:txBody>
      </p:sp>
      <p:pic>
        <p:nvPicPr>
          <p:cNvPr id="100" name="Image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762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subtitle"/>
          <p:cNvSpPr txBox="1"/>
          <p:nvPr/>
        </p:nvSpPr>
        <p:spPr>
          <a:xfrm>
            <a:off x="381000" y="812800"/>
            <a:ext cx="8382000" cy="3048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>
              <a:buNone/>
            </a:pPr>
            <a:r>
              <a:rPr lang="es-CL" sz="1400" dirty="0">
                <a:solidFill>
                  <a:srgbClr val="8A90C9"/>
                </a:solidFill>
                <a:latin typeface="Calibri" pitchFamily="34" charset="0"/>
              </a:rPr>
              <a:t>Recorrido de la presentación · 15 secciones</a:t>
            </a:r>
          </a:p>
        </p:txBody>
      </p:sp>
      <p:sp>
        <p:nvSpPr>
          <p:cNvPr id="50" name="sh50"/>
          <p:cNvSpPr/>
          <p:nvPr/>
        </p:nvSpPr>
        <p:spPr>
          <a:xfrm>
            <a:off x="355600" y="1244600"/>
            <a:ext cx="5689600" cy="5257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1" name="sh51"/>
          <p:cNvSpPr/>
          <p:nvPr/>
        </p:nvSpPr>
        <p:spPr>
          <a:xfrm>
            <a:off x="355600" y="1244600"/>
            <a:ext cx="5689600" cy="76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52" name="badge52"/>
          <p:cNvSpPr/>
          <p:nvPr/>
        </p:nvSpPr>
        <p:spPr>
          <a:xfrm>
            <a:off x="660400" y="14605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53" name="lbl53"/>
          <p:cNvSpPr txBox="1"/>
          <p:nvPr/>
        </p:nvSpPr>
        <p:spPr>
          <a:xfrm>
            <a:off x="1244600" y="14224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Equipo de Trabajo</a:t>
            </a:r>
          </a:p>
        </p:txBody>
      </p:sp>
      <p:sp>
        <p:nvSpPr>
          <p:cNvPr id="54" name="badge54"/>
          <p:cNvSpPr/>
          <p:nvPr/>
        </p:nvSpPr>
        <p:spPr>
          <a:xfrm>
            <a:off x="660400" y="20574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55" name="lbl55"/>
          <p:cNvSpPr txBox="1"/>
          <p:nvPr/>
        </p:nvSpPr>
        <p:spPr>
          <a:xfrm>
            <a:off x="1244600" y="20193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Contexto</a:t>
            </a:r>
          </a:p>
        </p:txBody>
      </p:sp>
      <p:sp>
        <p:nvSpPr>
          <p:cNvPr id="56" name="badge56"/>
          <p:cNvSpPr/>
          <p:nvPr/>
        </p:nvSpPr>
        <p:spPr>
          <a:xfrm>
            <a:off x="660400" y="26543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57" name="lbl57"/>
          <p:cNvSpPr txBox="1"/>
          <p:nvPr/>
        </p:nvSpPr>
        <p:spPr>
          <a:xfrm>
            <a:off x="1244600" y="26162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Objetivo General</a:t>
            </a:r>
          </a:p>
        </p:txBody>
      </p:sp>
      <p:sp>
        <p:nvSpPr>
          <p:cNvPr id="58" name="badge58"/>
          <p:cNvSpPr/>
          <p:nvPr/>
        </p:nvSpPr>
        <p:spPr>
          <a:xfrm>
            <a:off x="660400" y="32512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59" name="lbl59"/>
          <p:cNvSpPr txBox="1"/>
          <p:nvPr/>
        </p:nvSpPr>
        <p:spPr>
          <a:xfrm>
            <a:off x="1244600" y="32131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Objetivos Específicos</a:t>
            </a:r>
          </a:p>
        </p:txBody>
      </p:sp>
      <p:sp>
        <p:nvSpPr>
          <p:cNvPr id="60" name="badge60"/>
          <p:cNvSpPr/>
          <p:nvPr/>
        </p:nvSpPr>
        <p:spPr>
          <a:xfrm>
            <a:off x="660400" y="38481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61" name="lbl61"/>
          <p:cNvSpPr txBox="1"/>
          <p:nvPr/>
        </p:nvSpPr>
        <p:spPr>
          <a:xfrm>
            <a:off x="1244600" y="38100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Alcance</a:t>
            </a:r>
          </a:p>
        </p:txBody>
      </p:sp>
      <p:sp>
        <p:nvSpPr>
          <p:cNvPr id="62" name="badge62"/>
          <p:cNvSpPr/>
          <p:nvPr/>
        </p:nvSpPr>
        <p:spPr>
          <a:xfrm>
            <a:off x="660400" y="44450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06</a:t>
            </a:r>
          </a:p>
        </p:txBody>
      </p:sp>
      <p:sp>
        <p:nvSpPr>
          <p:cNvPr id="63" name="lbl63"/>
          <p:cNvSpPr txBox="1"/>
          <p:nvPr/>
        </p:nvSpPr>
        <p:spPr>
          <a:xfrm>
            <a:off x="1244600" y="44069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Requerimientos</a:t>
            </a:r>
          </a:p>
        </p:txBody>
      </p:sp>
      <p:sp>
        <p:nvSpPr>
          <p:cNvPr id="64" name="badge64"/>
          <p:cNvSpPr/>
          <p:nvPr/>
        </p:nvSpPr>
        <p:spPr>
          <a:xfrm>
            <a:off x="660400" y="50419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07</a:t>
            </a:r>
          </a:p>
        </p:txBody>
      </p:sp>
      <p:sp>
        <p:nvSpPr>
          <p:cNvPr id="65" name="lbl65"/>
          <p:cNvSpPr txBox="1"/>
          <p:nvPr/>
        </p:nvSpPr>
        <p:spPr>
          <a:xfrm>
            <a:off x="1244600" y="50038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Metodología</a:t>
            </a:r>
          </a:p>
        </p:txBody>
      </p:sp>
      <p:sp>
        <p:nvSpPr>
          <p:cNvPr id="66" name="badge66"/>
          <p:cNvSpPr/>
          <p:nvPr/>
        </p:nvSpPr>
        <p:spPr>
          <a:xfrm>
            <a:off x="660400" y="56388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67" name="lbl67"/>
          <p:cNvSpPr txBox="1"/>
          <p:nvPr/>
        </p:nvSpPr>
        <p:spPr>
          <a:xfrm>
            <a:off x="1244600" y="56007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Cronograma</a:t>
            </a:r>
          </a:p>
        </p:txBody>
      </p:sp>
      <p:sp>
        <p:nvSpPr>
          <p:cNvPr id="68" name="sh68"/>
          <p:cNvSpPr/>
          <p:nvPr/>
        </p:nvSpPr>
        <p:spPr>
          <a:xfrm>
            <a:off x="6146800" y="1244600"/>
            <a:ext cx="5689600" cy="5257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9" name="sh69"/>
          <p:cNvSpPr/>
          <p:nvPr/>
        </p:nvSpPr>
        <p:spPr>
          <a:xfrm>
            <a:off x="6146800" y="1244600"/>
            <a:ext cx="5689600" cy="76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0" name="badge70"/>
          <p:cNvSpPr/>
          <p:nvPr/>
        </p:nvSpPr>
        <p:spPr>
          <a:xfrm>
            <a:off x="6451600" y="14605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71" name="lbl71"/>
          <p:cNvSpPr txBox="1"/>
          <p:nvPr/>
        </p:nvSpPr>
        <p:spPr>
          <a:xfrm>
            <a:off x="7035800" y="14224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Stack Tecnológico</a:t>
            </a:r>
          </a:p>
        </p:txBody>
      </p:sp>
      <p:sp>
        <p:nvSpPr>
          <p:cNvPr id="72" name="badge72"/>
          <p:cNvSpPr/>
          <p:nvPr/>
        </p:nvSpPr>
        <p:spPr>
          <a:xfrm>
            <a:off x="6451600" y="20574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73" name="lbl73"/>
          <p:cNvSpPr txBox="1"/>
          <p:nvPr/>
        </p:nvSpPr>
        <p:spPr>
          <a:xfrm>
            <a:off x="7035800" y="20193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Arquitectura de la Aplicación</a:t>
            </a:r>
          </a:p>
        </p:txBody>
      </p:sp>
      <p:sp>
        <p:nvSpPr>
          <p:cNvPr id="74" name="badge74"/>
          <p:cNvSpPr/>
          <p:nvPr/>
        </p:nvSpPr>
        <p:spPr>
          <a:xfrm>
            <a:off x="6451600" y="26543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75" name="lbl75"/>
          <p:cNvSpPr txBox="1"/>
          <p:nvPr/>
        </p:nvSpPr>
        <p:spPr>
          <a:xfrm>
            <a:off x="7035800" y="26162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Modelo de Datos</a:t>
            </a:r>
          </a:p>
        </p:txBody>
      </p:sp>
      <p:sp>
        <p:nvSpPr>
          <p:cNvPr id="76" name="badge76"/>
          <p:cNvSpPr/>
          <p:nvPr/>
        </p:nvSpPr>
        <p:spPr>
          <a:xfrm>
            <a:off x="6451600" y="32512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77" name="lbl77"/>
          <p:cNvSpPr txBox="1"/>
          <p:nvPr/>
        </p:nvSpPr>
        <p:spPr>
          <a:xfrm>
            <a:off x="7035800" y="32131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Modelo de Negocio</a:t>
            </a:r>
          </a:p>
        </p:txBody>
      </p:sp>
      <p:sp>
        <p:nvSpPr>
          <p:cNvPr id="78" name="badge78"/>
          <p:cNvSpPr/>
          <p:nvPr/>
        </p:nvSpPr>
        <p:spPr>
          <a:xfrm>
            <a:off x="6451600" y="38481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79" name="lbl79"/>
          <p:cNvSpPr txBox="1"/>
          <p:nvPr/>
        </p:nvSpPr>
        <p:spPr>
          <a:xfrm>
            <a:off x="7035800" y="38100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Demostración</a:t>
            </a:r>
          </a:p>
        </p:txBody>
      </p:sp>
      <p:sp>
        <p:nvSpPr>
          <p:cNvPr id="80" name="badge80"/>
          <p:cNvSpPr/>
          <p:nvPr/>
        </p:nvSpPr>
        <p:spPr>
          <a:xfrm>
            <a:off x="6451600" y="44450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14</a:t>
            </a:r>
          </a:p>
        </p:txBody>
      </p:sp>
      <p:sp>
        <p:nvSpPr>
          <p:cNvPr id="81" name="lbl81"/>
          <p:cNvSpPr txBox="1"/>
          <p:nvPr/>
        </p:nvSpPr>
        <p:spPr>
          <a:xfrm>
            <a:off x="7035800" y="44069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Mejoras Futuras</a:t>
            </a:r>
          </a:p>
        </p:txBody>
      </p:sp>
      <p:sp>
        <p:nvSpPr>
          <p:cNvPr id="82" name="badge82"/>
          <p:cNvSpPr/>
          <p:nvPr/>
        </p:nvSpPr>
        <p:spPr>
          <a:xfrm>
            <a:off x="6451600" y="5041900"/>
            <a:ext cx="431800" cy="431800"/>
          </a:xfrm>
          <a:prstGeom prst="roundRect">
            <a:avLst>
              <a:gd name="adj" fmla="val 30000"/>
            </a:avLst>
          </a:prstGeom>
          <a:solidFill>
            <a:srgbClr val="5C6BC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15</a:t>
            </a:r>
          </a:p>
        </p:txBody>
      </p:sp>
      <p:sp>
        <p:nvSpPr>
          <p:cNvPr id="83" name="lbl83"/>
          <p:cNvSpPr txBox="1"/>
          <p:nvPr/>
        </p:nvSpPr>
        <p:spPr>
          <a:xfrm>
            <a:off x="7035800" y="5003800"/>
            <a:ext cx="45466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600" dirty="0">
                <a:solidFill>
                  <a:srgbClr val="FFFFFF"/>
                </a:solidFill>
                <a:latin typeface="Calibri" pitchFamily="34" charset="0"/>
              </a:rPr>
              <a:t>Conclusión</a:t>
            </a:r>
          </a:p>
        </p:txBody>
      </p:sp>
    </p:spTree>
    <p:extLst>
      <p:ext uri="{BB962C8B-B14F-4D97-AF65-F5344CB8AC3E}">
        <p14:creationId xmlns:p14="http://schemas.microsoft.com/office/powerpoint/2010/main" val="71470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363200" y="0"/>
            <a:ext cx="1828800" cy="146304"/>
          </a:xfrm>
          <a:prstGeom prst="rect">
            <a:avLst/>
          </a:prstGeom>
          <a:solidFill>
            <a:srgbClr val="3ECF8E">
              <a:alpha val="60000"/>
            </a:srgbClr>
          </a:solidFill>
          <a:ln w="12700">
            <a:solidFill>
              <a:srgbClr val="3ECF8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1216640" y="219456"/>
            <a:ext cx="975360" cy="97536"/>
          </a:xfrm>
          <a:prstGeom prst="rect">
            <a:avLst/>
          </a:prstGeom>
          <a:solidFill>
            <a:srgbClr val="5C6BC0">
              <a:alpha val="60000"/>
            </a:srgbClr>
          </a:solidFill>
          <a:ln w="12700">
            <a:solidFill>
              <a:srgbClr val="5C6B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12064" y="268224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kern="0" spc="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829056"/>
            <a:ext cx="6096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kern="0" spc="133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243584"/>
            <a:ext cx="11167872" cy="18288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2064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12064" y="1487424"/>
            <a:ext cx="5425440" cy="8534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755904" y="1645920"/>
            <a:ext cx="1024128" cy="1024128"/>
          </a:xfrm>
          <a:prstGeom prst="ellipse">
            <a:avLst/>
          </a:prstGeom>
          <a:solidFill>
            <a:srgbClr val="5C6BC0">
              <a:alpha val="85000"/>
            </a:srgbClr>
          </a:solidFill>
          <a:ln w="1905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55904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75104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Pinilla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75104" y="2316480"/>
            <a:ext cx="3779520" cy="292608"/>
          </a:xfrm>
          <a:prstGeom prst="rect">
            <a:avLst/>
          </a:prstGeom>
          <a:solidFill>
            <a:srgbClr val="5C6BC0">
              <a:alpha val="25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23872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 ·  ARQUITECTO  ·  UI/UX 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0288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80288" y="308457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" y="316992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89888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web y móvil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80288" y="381609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390144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89888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base de datos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780288" y="454761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32" y="463296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89888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 / UX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80288" y="5279136"/>
            <a:ext cx="463296" cy="463296"/>
          </a:xfrm>
          <a:prstGeom prst="ellipse">
            <a:avLst/>
          </a:prstGeom>
          <a:solidFill>
            <a:srgbClr val="5C6BC0">
              <a:alpha val="20000"/>
            </a:srgbClr>
          </a:solidFill>
          <a:ln w="6350">
            <a:solidFill>
              <a:srgbClr val="5C6BC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32" y="536448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89888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30112" y="1487424"/>
            <a:ext cx="5425440" cy="481584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9" name="Shape 23"/>
          <p:cNvSpPr/>
          <p:nvPr/>
        </p:nvSpPr>
        <p:spPr>
          <a:xfrm>
            <a:off x="6230112" y="1487424"/>
            <a:ext cx="5425440" cy="8534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4"/>
          <p:cNvSpPr/>
          <p:nvPr/>
        </p:nvSpPr>
        <p:spPr>
          <a:xfrm>
            <a:off x="6473952" y="1645920"/>
            <a:ext cx="1024128" cy="1024128"/>
          </a:xfrm>
          <a:prstGeom prst="ellipse">
            <a:avLst/>
          </a:prstGeom>
          <a:solidFill>
            <a:srgbClr val="3ECF8E">
              <a:alpha val="85000"/>
            </a:srgbClr>
          </a:solidFill>
          <a:ln w="1905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5"/>
          <p:cNvSpPr/>
          <p:nvPr/>
        </p:nvSpPr>
        <p:spPr>
          <a:xfrm>
            <a:off x="6473952" y="1645920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7693152" y="1792224"/>
            <a:ext cx="37795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González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7693152" y="2316480"/>
            <a:ext cx="3779520" cy="292608"/>
          </a:xfrm>
          <a:prstGeom prst="rect">
            <a:avLst/>
          </a:prstGeom>
          <a:solidFill>
            <a:srgbClr val="3ECF8E">
              <a:alpha val="25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28"/>
          <p:cNvSpPr/>
          <p:nvPr/>
        </p:nvSpPr>
        <p:spPr>
          <a:xfrm>
            <a:off x="7741920" y="23164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067" b="1" kern="0" spc="133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 ·  PLANIFICACIÓN  ·  DOCUMENTACIÓN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6498336" y="2852929"/>
            <a:ext cx="4888992" cy="14631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0"/>
          <p:cNvSpPr/>
          <p:nvPr/>
        </p:nvSpPr>
        <p:spPr>
          <a:xfrm>
            <a:off x="6498336" y="308457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69920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07936" y="304800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requerimientos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2"/>
          <p:cNvSpPr/>
          <p:nvPr/>
        </p:nvSpPr>
        <p:spPr>
          <a:xfrm>
            <a:off x="6498336" y="381609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901440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107936" y="377952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6498336" y="454761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35"/>
          <p:cNvSpPr/>
          <p:nvPr/>
        </p:nvSpPr>
        <p:spPr>
          <a:xfrm>
            <a:off x="7107936" y="451104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la metodología de desarrollo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6498336" y="5279136"/>
            <a:ext cx="463296" cy="463296"/>
          </a:xfrm>
          <a:prstGeom prst="ellipse">
            <a:avLst/>
          </a:prstGeom>
          <a:solidFill>
            <a:srgbClr val="3ECF8E">
              <a:alpha val="20000"/>
            </a:srgbClr>
          </a:solidFill>
          <a:ln w="6350">
            <a:solidFill>
              <a:srgbClr val="3ECF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364480"/>
            <a:ext cx="292608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107936" y="5242560"/>
            <a:ext cx="43525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seguimiento del cronograma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512064" y="6437376"/>
            <a:ext cx="1116787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00" kern="0" spc="267" dirty="0">
                <a:solidFill>
                  <a:srgbClr val="3A4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integrantes  ·  Proyecto Polaris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9" name="Graphic 49" descr="Metodología de desarrollo - diagrama de fluj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8600" y="4635500"/>
            <a:ext cx="2921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5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453766" y="939393"/>
            <a:ext cx="5376672" cy="4985919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460248" y="932688"/>
            <a:ext cx="5370190" cy="8321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045271" y="1426566"/>
            <a:ext cx="3858768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s-CL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</a:p>
        </p:txBody>
      </p:sp>
      <p:sp>
        <p:nvSpPr>
          <p:cNvPr id="8" name="Text 6"/>
          <p:cNvSpPr/>
          <p:nvPr/>
        </p:nvSpPr>
        <p:spPr>
          <a:xfrm>
            <a:off x="658367" y="1723644"/>
            <a:ext cx="5004623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inseguridad urbana crece año tras año en las zonas urbanas de la Región Metropolitana, generando desconfianza entre vecinos que no saben lo que ocurre a su alrededor. A esto se suma una comunicación vecinal fragmentada y limitada, basada en grupos informales de WhatsApp, redes sociales generalistas o apps con funcionalidades acotadas, lo que profundiza la desconexión de la comunidad.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D61CC06-5B52-9B80-1F83-B1BDDFC236A2}"/>
              </a:ext>
            </a:extLst>
          </p:cNvPr>
          <p:cNvGrpSpPr/>
          <p:nvPr/>
        </p:nvGrpSpPr>
        <p:grpSpPr>
          <a:xfrm>
            <a:off x="6431280" y="932688"/>
            <a:ext cx="5386197" cy="4992624"/>
            <a:chOff x="4718304" y="932688"/>
            <a:chExt cx="4048808" cy="3291840"/>
          </a:xfrm>
        </p:grpSpPr>
        <p:sp>
          <p:nvSpPr>
            <p:cNvPr id="9" name="Shape 7"/>
            <p:cNvSpPr/>
            <p:nvPr/>
          </p:nvSpPr>
          <p:spPr>
            <a:xfrm>
              <a:off x="4718304" y="932688"/>
              <a:ext cx="4041648" cy="329184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Shape 8"/>
            <p:cNvSpPr/>
            <p:nvPr/>
          </p:nvSpPr>
          <p:spPr>
            <a:xfrm>
              <a:off x="4725464" y="932688"/>
              <a:ext cx="4041648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 9"/>
            <p:cNvSpPr/>
            <p:nvPr/>
          </p:nvSpPr>
          <p:spPr>
            <a:xfrm>
              <a:off x="4837176" y="1280160"/>
              <a:ext cx="385876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L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⭐ </a:t>
              </a:r>
              <a:r>
                <a:rPr lang="es-CL" sz="3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Propuesta Polaris</a:t>
              </a:r>
            </a:p>
          </p:txBody>
        </p:sp>
        <p:sp>
          <p:nvSpPr>
            <p:cNvPr id="12" name="Text 10"/>
            <p:cNvSpPr/>
            <p:nvPr/>
          </p:nvSpPr>
          <p:spPr>
            <a:xfrm>
              <a:off x="4809744" y="1006392"/>
              <a:ext cx="3858768" cy="26201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CL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Polaris propone una plataforma única que conecta a los vecinos en un solo lugar: centraliza la comunicación del barrio, permite reportar y visualizar incidentes de seguridad en tiempo real y fortalece la colaboración comunitaria, construyendo entornos más seguros y confiables.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3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06313C7B-27F9-7AC2-5369-EEFE932B8D76}"/>
              </a:ext>
            </a:extLst>
          </p:cNvPr>
          <p:cNvGrpSpPr/>
          <p:nvPr/>
        </p:nvGrpSpPr>
        <p:grpSpPr>
          <a:xfrm>
            <a:off x="720161" y="2260600"/>
            <a:ext cx="5532119" cy="3611880"/>
            <a:chOff x="319841" y="960120"/>
            <a:chExt cx="4316167" cy="3611880"/>
          </a:xfrm>
        </p:grpSpPr>
        <p:sp>
          <p:nvSpPr>
            <p:cNvPr id="5" name="Shape 3"/>
            <p:cNvSpPr/>
            <p:nvPr/>
          </p:nvSpPr>
          <p:spPr>
            <a:xfrm>
              <a:off x="319841" y="960120"/>
              <a:ext cx="4251960" cy="361188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19841" y="978408"/>
              <a:ext cx="4316167" cy="45719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097280"/>
              <a:ext cx="3931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Seguridad</a:t>
              </a:r>
              <a:endParaRPr lang="en-US" sz="2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48640" y="1536192"/>
              <a:ext cx="3931920" cy="13716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 7"/>
            <p:cNvSpPr/>
            <p:nvPr/>
          </p:nvSpPr>
          <p:spPr>
            <a:xfrm>
              <a:off x="567876" y="1433321"/>
              <a:ext cx="393192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Entregar un servicio de alertas moderno e intuitivo que permita proteger la comunidad del vecindario y ofrecer un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espacio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seguro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y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centralizado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para interactuar.</a:t>
              </a:r>
              <a:endParaRPr lang="en-US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6A0C878-09F5-74A5-0F24-86762D2F573C}"/>
              </a:ext>
            </a:extLst>
          </p:cNvPr>
          <p:cNvGrpSpPr/>
          <p:nvPr/>
        </p:nvGrpSpPr>
        <p:grpSpPr>
          <a:xfrm>
            <a:off x="6102350" y="2274316"/>
            <a:ext cx="5449824" cy="3611880"/>
            <a:chOff x="4764024" y="960120"/>
            <a:chExt cx="4251960" cy="3611880"/>
          </a:xfrm>
        </p:grpSpPr>
        <p:sp>
          <p:nvSpPr>
            <p:cNvPr id="10" name="Shape 8"/>
            <p:cNvSpPr/>
            <p:nvPr/>
          </p:nvSpPr>
          <p:spPr>
            <a:xfrm>
              <a:off x="4764024" y="960120"/>
              <a:ext cx="4251960" cy="361188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Shape 9"/>
            <p:cNvSpPr/>
            <p:nvPr/>
          </p:nvSpPr>
          <p:spPr>
            <a:xfrm>
              <a:off x="4764024" y="960120"/>
              <a:ext cx="4251960" cy="45719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928616" y="1097280"/>
              <a:ext cx="39319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Social</a:t>
              </a:r>
            </a:p>
          </p:txBody>
        </p:sp>
        <p:sp>
          <p:nvSpPr>
            <p:cNvPr id="13" name="Shape 11"/>
            <p:cNvSpPr/>
            <p:nvPr/>
          </p:nvSpPr>
          <p:spPr>
            <a:xfrm>
              <a:off x="4913753" y="1526667"/>
              <a:ext cx="3931920" cy="13716"/>
            </a:xfrm>
            <a:prstGeom prst="rect">
              <a:avLst/>
            </a:prstGeom>
            <a:solidFill>
              <a:srgbClr val="2A2F5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 12"/>
            <p:cNvSpPr/>
            <p:nvPr/>
          </p:nvSpPr>
          <p:spPr>
            <a:xfrm>
              <a:off x="4928616" y="1502283"/>
              <a:ext cx="393192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Ofrece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un servicio y espacio social en el cual los usuarios pueden compartir, vender y realizar actividades recreacionales con el objetivo de fortalecer el sentimiento de unidad y seguridad de la comunidad.</a:t>
              </a:r>
              <a:endParaRPr lang="en-US" dirty="0"/>
            </a:p>
          </p:txBody>
        </p:sp>
      </p:grpSp>
      <p:sp>
        <p:nvSpPr>
          <p:cNvPr id="17" name="ObjGeneralBanner">
            <a:extLst>
              <a:ext uri="{FF2B5EF4-FFF2-40B4-BE49-F238E27FC236}">
                <a16:creationId xmlns:a16="http://schemas.microsoft.com/office/drawing/2014/main" id="{CE7FD86A-1E92-48F4-8D31-3CB67BB0408F}"/>
              </a:ext>
            </a:extLst>
          </p:cNvPr>
          <p:cNvSpPr/>
          <p:nvPr/>
        </p:nvSpPr>
        <p:spPr>
          <a:xfrm>
            <a:off x="609600" y="889000"/>
            <a:ext cx="10985500" cy="1117600"/>
          </a:xfrm>
          <a:prstGeom prst="roundRect">
            <a:avLst/>
          </a:prstGeom>
          <a:solidFill>
            <a:srgbClr val="1621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CL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 esto, se creó Polaris, una plataforma comunitaria que integra seguridad y vida social, fortaleciendo el sentido de unidad, confianza y protección entre los vecinos del barrio.</a:t>
            </a:r>
          </a:p>
        </p:txBody>
      </p:sp>
      <p:sp>
        <p:nvSpPr>
          <p:cNvPr id="18" name="ObjAccentL">
            <a:extLst>
              <a:ext uri="{FF2B5EF4-FFF2-40B4-BE49-F238E27FC236}">
                <a16:creationId xmlns:a16="http://schemas.microsoft.com/office/drawing/2014/main" id="{114DC30E-41B2-4E79-B582-23EF97E848A4}"/>
              </a:ext>
            </a:extLst>
          </p:cNvPr>
          <p:cNvSpPr/>
          <p:nvPr/>
        </p:nvSpPr>
        <p:spPr>
          <a:xfrm>
            <a:off x="609600" y="889000"/>
            <a:ext cx="5492750" cy="63500"/>
          </a:xfrm>
          <a:prstGeom prst="rect">
            <a:avLst/>
          </a:prstGeom>
          <a:solidFill>
            <a:srgbClr val="5C6B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L"/>
          </a:p>
        </p:txBody>
      </p:sp>
      <p:sp>
        <p:nvSpPr>
          <p:cNvPr id="19" name="ObjAccentR">
            <a:extLst>
              <a:ext uri="{FF2B5EF4-FFF2-40B4-BE49-F238E27FC236}">
                <a16:creationId xmlns:a16="http://schemas.microsoft.com/office/drawing/2014/main" id="{1212C2E8-074F-420D-AAA1-D8184378A5FD}"/>
              </a:ext>
            </a:extLst>
          </p:cNvPr>
          <p:cNvSpPr/>
          <p:nvPr/>
        </p:nvSpPr>
        <p:spPr>
          <a:xfrm>
            <a:off x="6102350" y="889000"/>
            <a:ext cx="5492750" cy="63500"/>
          </a:xfrm>
          <a:prstGeom prst="rect">
            <a:avLst/>
          </a:prstGeom>
          <a:solidFill>
            <a:srgbClr val="3ECF8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ESPECIFICOS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1F43F89-8723-C0E2-8666-F4663DAE48FD}"/>
              </a:ext>
            </a:extLst>
          </p:cNvPr>
          <p:cNvGrpSpPr/>
          <p:nvPr/>
        </p:nvGrpSpPr>
        <p:grpSpPr>
          <a:xfrm>
            <a:off x="384048" y="960120"/>
            <a:ext cx="11603736" cy="2560320"/>
            <a:chOff x="384048" y="960120"/>
            <a:chExt cx="8375904" cy="2560320"/>
          </a:xfrm>
        </p:grpSpPr>
        <p:sp>
          <p:nvSpPr>
            <p:cNvPr id="5" name="Shape 3"/>
            <p:cNvSpPr/>
            <p:nvPr/>
          </p:nvSpPr>
          <p:spPr>
            <a:xfrm>
              <a:off x="384048" y="960120"/>
              <a:ext cx="8375904" cy="256032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960120"/>
              <a:ext cx="54864" cy="2560320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 5"/>
            <p:cNvSpPr/>
            <p:nvPr/>
          </p:nvSpPr>
          <p:spPr>
            <a:xfrm>
              <a:off x="658368" y="1078992"/>
              <a:ext cx="7973568" cy="2331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propósito de Polaris no es solo la seguridad, es formar una red de comunicación entre vecinos que sea rápida, atractiva y fácil de interactuar. Busca fortalecer las comunidades con sus funciones y su red social. Algo que hasta el día de hoy no se ha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ofrecido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implementado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bien </a:t>
              </a:r>
              <a:r>
                <a:rPr lang="en-US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debido</a:t>
              </a:r>
              <a:r>
                <a:rPr lang="en-US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al limitado alcance que tienen las aplicaciones en el mercado.</a:t>
              </a:r>
              <a:endParaRPr lang="en-US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C8835F11-FBA3-F6F6-3C63-7F1A4E904D41}"/>
              </a:ext>
            </a:extLst>
          </p:cNvPr>
          <p:cNvGrpSpPr/>
          <p:nvPr/>
        </p:nvGrpSpPr>
        <p:grpSpPr>
          <a:xfrm>
            <a:off x="384048" y="4215384"/>
            <a:ext cx="11603736" cy="1682496"/>
            <a:chOff x="384048" y="3749040"/>
            <a:chExt cx="8247888" cy="822960"/>
          </a:xfrm>
        </p:grpSpPr>
        <p:sp>
          <p:nvSpPr>
            <p:cNvPr id="8" name="Shape 6"/>
            <p:cNvSpPr/>
            <p:nvPr/>
          </p:nvSpPr>
          <p:spPr>
            <a:xfrm>
              <a:off x="384048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9" name="Text 7"/>
            <p:cNvSpPr/>
            <p:nvPr/>
          </p:nvSpPr>
          <p:spPr>
            <a:xfrm>
              <a:off x="384048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🔒</a:t>
              </a:r>
              <a:endParaRPr lang="en-US" sz="4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84048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Implementar Seguridad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78024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2" name="Text 10"/>
            <p:cNvSpPr/>
            <p:nvPr/>
          </p:nvSpPr>
          <p:spPr>
            <a:xfrm>
              <a:off x="2478024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🤝</a:t>
              </a:r>
              <a:endParaRPr lang="en-US" sz="4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478024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Fortalecer Comunidad</a:t>
              </a:r>
              <a:endParaRPr lang="en-US" sz="2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572000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0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📍</a:t>
              </a:r>
              <a:endParaRPr lang="en-US" sz="4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572000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Visualizar Geolocalización</a:t>
              </a:r>
              <a:endParaRPr lang="en-US" sz="2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665976" y="3749040"/>
              <a:ext cx="1965960" cy="82296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18" name="Text 16"/>
            <p:cNvSpPr/>
            <p:nvPr/>
          </p:nvSpPr>
          <p:spPr>
            <a:xfrm>
              <a:off x="6665976" y="3767328"/>
              <a:ext cx="1965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dirty="0">
                  <a:solidFill>
                    <a:srgbClr val="000000"/>
                  </a:solidFill>
                </a:rPr>
                <a:t>🛒</a:t>
              </a:r>
              <a:endParaRPr lang="en-US" sz="4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665976" y="4133088"/>
              <a:ext cx="1965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8892B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Ofrecer Comercio Local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3470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4048" y="73152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C8A1AD9D-9D5C-06FF-B212-9FB56CB98278}"/>
              </a:ext>
            </a:extLst>
          </p:cNvPr>
          <p:cNvGrpSpPr/>
          <p:nvPr/>
        </p:nvGrpSpPr>
        <p:grpSpPr>
          <a:xfrm>
            <a:off x="384048" y="960120"/>
            <a:ext cx="11247120" cy="2523744"/>
            <a:chOff x="384048" y="960120"/>
            <a:chExt cx="8641080" cy="1600200"/>
          </a:xfrm>
        </p:grpSpPr>
        <p:sp>
          <p:nvSpPr>
            <p:cNvPr id="5" name="Shape 3"/>
            <p:cNvSpPr/>
            <p:nvPr/>
          </p:nvSpPr>
          <p:spPr>
            <a:xfrm>
              <a:off x="38404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6" name="Shape 4"/>
            <p:cNvSpPr/>
            <p:nvPr/>
          </p:nvSpPr>
          <p:spPr>
            <a:xfrm>
              <a:off x="38404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49377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📱</a:t>
              </a:r>
              <a:endParaRPr lang="en-US" sz="3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97840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Multiplataforma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9377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Aplicación disponible para Web, Android e iOS.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31012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1" name="Shape 9"/>
            <p:cNvSpPr/>
            <p:nvPr/>
          </p:nvSpPr>
          <p:spPr>
            <a:xfrm>
              <a:off x="331012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2" name="Text 10"/>
            <p:cNvSpPr/>
            <p:nvPr/>
          </p:nvSpPr>
          <p:spPr>
            <a:xfrm>
              <a:off x="341985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🔔</a:t>
              </a:r>
              <a:endParaRPr lang="en-US" sz="3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90448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Alertas en Tiempo Real</a:t>
              </a: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1985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Sistema de alertas de seguridad y eventos comunitarios actualizados en tiempo real.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236208" y="96012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36208" y="960120"/>
              <a:ext cx="2788920" cy="54864"/>
            </a:xfrm>
            <a:prstGeom prst="rect">
              <a:avLst/>
            </a:prstGeom>
            <a:solidFill>
              <a:srgbClr val="5C6BC0"/>
            </a:solidFill>
            <a:ln w="12700">
              <a:solidFill>
                <a:srgbClr val="5C6BC0"/>
              </a:solidFill>
              <a:prstDash val="solid"/>
            </a:ln>
          </p:spPr>
          <p:txBody>
            <a:bodyPr/>
            <a:lstStyle/>
            <a:p>
              <a:endParaRPr lang="es-CL" sz="2800"/>
            </a:p>
          </p:txBody>
        </p:sp>
        <p:sp>
          <p:nvSpPr>
            <p:cNvPr id="17" name="Text 15"/>
            <p:cNvSpPr/>
            <p:nvPr/>
          </p:nvSpPr>
          <p:spPr>
            <a:xfrm>
              <a:off x="6345936" y="106984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🧭</a:t>
              </a:r>
              <a:endParaRPr lang="en-US" sz="3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830568" y="106984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Interfaz Intuitiva</a:t>
              </a: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345936" y="158191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Interfaz de fácil uso, centrada en el usuario y accesible.</a:t>
              </a:r>
              <a:endParaRPr lang="en-US" sz="1400" dirty="0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9044814-E7FE-C445-AD61-2E0A90C60015}"/>
              </a:ext>
            </a:extLst>
          </p:cNvPr>
          <p:cNvGrpSpPr/>
          <p:nvPr/>
        </p:nvGrpSpPr>
        <p:grpSpPr>
          <a:xfrm>
            <a:off x="381000" y="4050792"/>
            <a:ext cx="3630023" cy="2523744"/>
            <a:chOff x="384048" y="2697480"/>
            <a:chExt cx="2788920" cy="1600200"/>
          </a:xfrm>
        </p:grpSpPr>
        <p:sp>
          <p:nvSpPr>
            <p:cNvPr id="20" name="Shape 18"/>
            <p:cNvSpPr/>
            <p:nvPr/>
          </p:nvSpPr>
          <p:spPr>
            <a:xfrm>
              <a:off x="384048" y="269748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1" name="Shape 19"/>
            <p:cNvSpPr/>
            <p:nvPr/>
          </p:nvSpPr>
          <p:spPr>
            <a:xfrm>
              <a:off x="384048" y="2697480"/>
              <a:ext cx="2788920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2" name="Text 20"/>
            <p:cNvSpPr/>
            <p:nvPr/>
          </p:nvSpPr>
          <p:spPr>
            <a:xfrm>
              <a:off x="493776" y="280720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🏘️</a:t>
              </a:r>
              <a:endParaRPr lang="en-US" sz="3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978408" y="280720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Foco Comunitario</a:t>
              </a:r>
              <a:endParaRPr lang="en-US" sz="2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93776" y="3319272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Centrada en el uso de barrios y comunidades, pero con arquitectura escalable.</a:t>
              </a:r>
              <a:endParaRPr lang="en-US" sz="1600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0647BEDA-BDCC-A5E0-3953-0445722BE621}"/>
              </a:ext>
            </a:extLst>
          </p:cNvPr>
          <p:cNvGrpSpPr/>
          <p:nvPr/>
        </p:nvGrpSpPr>
        <p:grpSpPr>
          <a:xfrm>
            <a:off x="8001000" y="4041439"/>
            <a:ext cx="3630023" cy="2523744"/>
            <a:chOff x="3310128" y="2697480"/>
            <a:chExt cx="2788920" cy="1600200"/>
          </a:xfrm>
        </p:grpSpPr>
        <p:sp>
          <p:nvSpPr>
            <p:cNvPr id="25" name="Shape 23"/>
            <p:cNvSpPr/>
            <p:nvPr/>
          </p:nvSpPr>
          <p:spPr>
            <a:xfrm>
              <a:off x="3310128" y="2697480"/>
              <a:ext cx="2788920" cy="1600200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4400"/>
            </a:p>
          </p:txBody>
        </p:sp>
        <p:sp>
          <p:nvSpPr>
            <p:cNvPr id="26" name="Shape 24"/>
            <p:cNvSpPr/>
            <p:nvPr/>
          </p:nvSpPr>
          <p:spPr>
            <a:xfrm>
              <a:off x="3310128" y="2697480"/>
              <a:ext cx="2788920" cy="54864"/>
            </a:xfrm>
            <a:prstGeom prst="rect">
              <a:avLst/>
            </a:prstGeom>
            <a:solidFill>
              <a:srgbClr val="3ECF8E"/>
            </a:solidFill>
            <a:ln w="12700">
              <a:solidFill>
                <a:srgbClr val="3ECF8E"/>
              </a:solidFill>
              <a:prstDash val="solid"/>
            </a:ln>
          </p:spPr>
          <p:txBody>
            <a:bodyPr/>
            <a:lstStyle/>
            <a:p>
              <a:endParaRPr lang="es-CL" sz="3200"/>
            </a:p>
          </p:txBody>
        </p:sp>
        <p:sp>
          <p:nvSpPr>
            <p:cNvPr id="27" name="Text 25"/>
            <p:cNvSpPr/>
            <p:nvPr/>
          </p:nvSpPr>
          <p:spPr>
            <a:xfrm>
              <a:off x="3419856" y="2807208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🎛️</a:t>
              </a:r>
              <a:endParaRPr lang="en-US" sz="3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904488" y="2807208"/>
              <a:ext cx="2057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Personalización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419968" y="2957339"/>
              <a:ext cx="2560320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Filtros</a:t>
              </a: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de categoría para </a:t>
              </a:r>
              <a:r>
                <a:rPr lang="en-US" sz="16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</a:t>
              </a: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 </a:t>
              </a:r>
              <a:r>
                <a:rPr lang="en-US" sz="16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interacción</a:t>
              </a:r>
              <a:r>
                <a:rPr lang="en-US" sz="16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con la comunidad.</a:t>
              </a:r>
              <a:endParaRPr lang="en-US" sz="1600" dirty="0"/>
            </a:p>
          </p:txBody>
        </p:sp>
      </p:grpSp>
      <p:sp>
        <p:nvSpPr>
          <p:cNvPr id="33" name="CardInternetBg">
            <a:extLst>
              <a:ext uri="{FF2B5EF4-FFF2-40B4-BE49-F238E27FC236}">
                <a16:creationId xmlns:a16="http://schemas.microsoft.com/office/drawing/2014/main" id="{44F1137C-21A4-4323-9BB5-6927AF5B0735}"/>
              </a:ext>
            </a:extLst>
          </p:cNvPr>
          <p:cNvSpPr/>
          <p:nvPr/>
        </p:nvSpPr>
        <p:spPr>
          <a:xfrm>
            <a:off x="4191000" y="4051300"/>
            <a:ext cx="3632200" cy="2527300"/>
          </a:xfrm>
          <a:prstGeom prst="rect">
            <a:avLst/>
          </a:prstGeom>
          <a:solidFill>
            <a:srgbClr val="16213E"/>
          </a:solidFill>
          <a:ln w="12700" cap="flat" cmpd="sng" algn="ctr">
            <a:solidFill>
              <a:srgbClr val="2A2F5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L"/>
          </a:p>
        </p:txBody>
      </p:sp>
      <p:sp>
        <p:nvSpPr>
          <p:cNvPr id="34" name="CardInternetAcc">
            <a:extLst>
              <a:ext uri="{FF2B5EF4-FFF2-40B4-BE49-F238E27FC236}">
                <a16:creationId xmlns:a16="http://schemas.microsoft.com/office/drawing/2014/main" id="{FA06D8A1-297A-4AC4-97B1-DBDCBF5F2482}"/>
              </a:ext>
            </a:extLst>
          </p:cNvPr>
          <p:cNvSpPr/>
          <p:nvPr/>
        </p:nvSpPr>
        <p:spPr>
          <a:xfrm>
            <a:off x="4191000" y="4051300"/>
            <a:ext cx="3632200" cy="88900"/>
          </a:xfrm>
          <a:prstGeom prst="rect">
            <a:avLst/>
          </a:prstGeom>
          <a:solidFill>
            <a:srgbClr val="3ECF8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L"/>
          </a:p>
        </p:txBody>
      </p:sp>
      <p:sp>
        <p:nvSpPr>
          <p:cNvPr id="35" name="CardInternetIcon">
            <a:extLst>
              <a:ext uri="{FF2B5EF4-FFF2-40B4-BE49-F238E27FC236}">
                <a16:creationId xmlns:a16="http://schemas.microsoft.com/office/drawing/2014/main" id="{517188E0-7D3E-4551-BC98-4E624CE87C08}"/>
              </a:ext>
            </a:extLst>
          </p:cNvPr>
          <p:cNvSpPr txBox="1"/>
          <p:nvPr/>
        </p:nvSpPr>
        <p:spPr>
          <a:xfrm>
            <a:off x="4330700" y="4216400"/>
            <a:ext cx="533400" cy="647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s-CL" sz="3200">
                <a:latin typeface="Calibri"/>
                <a:ea typeface="Calibri"/>
                <a:cs typeface="Calibri"/>
              </a:rPr>
              <a:t>🌐</a:t>
            </a:r>
          </a:p>
        </p:txBody>
      </p:sp>
      <p:sp>
        <p:nvSpPr>
          <p:cNvPr id="36" name="CardInternetTitle">
            <a:extLst>
              <a:ext uri="{FF2B5EF4-FFF2-40B4-BE49-F238E27FC236}">
                <a16:creationId xmlns:a16="http://schemas.microsoft.com/office/drawing/2014/main" id="{189A832E-3E46-446D-95F8-588E47D073CD}"/>
              </a:ext>
            </a:extLst>
          </p:cNvPr>
          <p:cNvSpPr txBox="1"/>
          <p:nvPr/>
        </p:nvSpPr>
        <p:spPr>
          <a:xfrm>
            <a:off x="4965700" y="4216400"/>
            <a:ext cx="26797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s-CL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Requiere Internet</a:t>
            </a:r>
          </a:p>
        </p:txBody>
      </p:sp>
      <p:sp>
        <p:nvSpPr>
          <p:cNvPr id="37" name="CardInternetBody">
            <a:extLst>
              <a:ext uri="{FF2B5EF4-FFF2-40B4-BE49-F238E27FC236}">
                <a16:creationId xmlns:a16="http://schemas.microsoft.com/office/drawing/2014/main" id="{479FB5B0-794D-44C3-BD28-F951C01752C0}"/>
              </a:ext>
            </a:extLst>
          </p:cNvPr>
          <p:cNvSpPr txBox="1"/>
          <p:nvPr/>
        </p:nvSpPr>
        <p:spPr>
          <a:xfrm>
            <a:off x="4330700" y="5029200"/>
            <a:ext cx="3327400" cy="13843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s-CL" sz="16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Debido a sus funciones, la aplicación funciona únicamente con una conexión a internet activa.</a:t>
            </a:r>
          </a:p>
        </p:txBody>
      </p:sp>
    </p:spTree>
    <p:extLst>
      <p:ext uri="{BB962C8B-B14F-4D97-AF65-F5344CB8AC3E}">
        <p14:creationId xmlns:p14="http://schemas.microsoft.com/office/powerpoint/2010/main" val="2298481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xt102"/>
          <p:cNvSpPr/>
          <p:nvPr/>
        </p:nvSpPr>
        <p:spPr>
          <a:xfrm>
            <a:off x="381000" y="228600"/>
            <a:ext cx="8229600" cy="444500"/>
          </a:xfrm>
          <a:prstGeom prst="rect">
            <a:avLst/>
          </a:prstGeom>
          <a:noFill/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s-CL" sz="2200" b="1" kern="0" spc="400" dirty="0">
                <a:solidFill>
                  <a:srgbClr val="FFFFFF"/>
                </a:solidFill>
                <a:latin typeface="Calibri" pitchFamily="34" charset="0"/>
              </a:rPr>
              <a:t>REQUERIMIENTOS</a:t>
            </a:r>
          </a:p>
        </p:txBody>
      </p:sp>
      <p:sp>
        <p:nvSpPr>
          <p:cNvPr id="102" name="Divider"/>
          <p:cNvSpPr/>
          <p:nvPr/>
        </p:nvSpPr>
        <p:spPr>
          <a:xfrm>
            <a:off x="381000" y="731520"/>
            <a:ext cx="8375904" cy="13716"/>
          </a:xfrm>
          <a:prstGeom prst="rect">
            <a:avLst/>
          </a:prstGeom>
          <a:solidFill>
            <a:srgbClr val="2A2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txt104"/>
          <p:cNvSpPr/>
          <p:nvPr/>
        </p:nvSpPr>
        <p:spPr>
          <a:xfrm>
            <a:off x="381000" y="812800"/>
            <a:ext cx="5080000" cy="279400"/>
          </a:xfrm>
          <a:prstGeom prst="rect">
            <a:avLst/>
          </a:prstGeom>
          <a:noFill/>
        </p:spPr>
        <p:txBody>
          <a:bodyPr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CL" sz="1600" b="1" spc="200" dirty="0">
                <a:solidFill>
                  <a:srgbClr val="5C6BC0"/>
                </a:solidFill>
                <a:latin typeface="Calibri" pitchFamily="34" charset="0"/>
              </a:rPr>
              <a:t>FUNCIONALES (RF)</a:t>
            </a:r>
          </a:p>
        </p:txBody>
      </p:sp>
      <p:sp>
        <p:nvSpPr>
          <p:cNvPr id="104" name="chip"/>
          <p:cNvSpPr/>
          <p:nvPr/>
        </p:nvSpPr>
        <p:spPr>
          <a:xfrm>
            <a:off x="381000" y="11430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Autenticación Unificada Segura</a:t>
            </a:r>
          </a:p>
        </p:txBody>
      </p:sp>
      <p:sp>
        <p:nvSpPr>
          <p:cNvPr id="105" name="stripe"/>
          <p:cNvSpPr/>
          <p:nvPr/>
        </p:nvSpPr>
        <p:spPr>
          <a:xfrm>
            <a:off x="381000" y="11430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chip"/>
          <p:cNvSpPr/>
          <p:nvPr/>
        </p:nvSpPr>
        <p:spPr>
          <a:xfrm>
            <a:off x="3302000" y="11430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Geolocalización en Tres Capas</a:t>
            </a:r>
          </a:p>
        </p:txBody>
      </p:sp>
      <p:sp>
        <p:nvSpPr>
          <p:cNvPr id="107" name="stripe"/>
          <p:cNvSpPr/>
          <p:nvPr/>
        </p:nvSpPr>
        <p:spPr>
          <a:xfrm>
            <a:off x="3302000" y="11430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chip"/>
          <p:cNvSpPr/>
          <p:nvPr/>
        </p:nvSpPr>
        <p:spPr>
          <a:xfrm>
            <a:off x="6223000" y="11430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Geocodificación Inversa Urbana</a:t>
            </a:r>
          </a:p>
        </p:txBody>
      </p:sp>
      <p:sp>
        <p:nvSpPr>
          <p:cNvPr id="109" name="stripe"/>
          <p:cNvSpPr/>
          <p:nvPr/>
        </p:nvSpPr>
        <p:spPr>
          <a:xfrm>
            <a:off x="6223000" y="11430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chip"/>
          <p:cNvSpPr/>
          <p:nvPr/>
        </p:nvSpPr>
        <p:spPr>
          <a:xfrm>
            <a:off x="9144000" y="11430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RF-04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Publicación de Incidentes en Mapa</a:t>
            </a:r>
          </a:p>
        </p:txBody>
      </p:sp>
      <p:sp>
        <p:nvSpPr>
          <p:cNvPr id="111" name="stripe"/>
          <p:cNvSpPr/>
          <p:nvPr/>
        </p:nvSpPr>
        <p:spPr>
          <a:xfrm>
            <a:off x="9144000" y="11430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chip"/>
          <p:cNvSpPr/>
          <p:nvPr/>
        </p:nvSpPr>
        <p:spPr>
          <a:xfrm>
            <a:off x="381000" y="20574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Sincronización Realtime de Alertas</a:t>
            </a:r>
          </a:p>
        </p:txBody>
      </p:sp>
      <p:sp>
        <p:nvSpPr>
          <p:cNvPr id="113" name="stripe"/>
          <p:cNvSpPr/>
          <p:nvPr/>
        </p:nvSpPr>
        <p:spPr>
          <a:xfrm>
            <a:off x="381000" y="20574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chip"/>
          <p:cNvSpPr/>
          <p:nvPr/>
        </p:nvSpPr>
        <p:spPr>
          <a:xfrm>
            <a:off x="3302000" y="20574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RF-06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Interacción con Interfaz Optimista</a:t>
            </a:r>
          </a:p>
        </p:txBody>
      </p:sp>
      <p:sp>
        <p:nvSpPr>
          <p:cNvPr id="115" name="stripe"/>
          <p:cNvSpPr/>
          <p:nvPr/>
        </p:nvSpPr>
        <p:spPr>
          <a:xfrm>
            <a:off x="3302000" y="20574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chip"/>
          <p:cNvSpPr/>
          <p:nvPr/>
        </p:nvSpPr>
        <p:spPr>
          <a:xfrm>
            <a:off x="6223000" y="20574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RF-07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Convocatoria y RSVP de Eventos</a:t>
            </a:r>
          </a:p>
        </p:txBody>
      </p:sp>
      <p:sp>
        <p:nvSpPr>
          <p:cNvPr id="117" name="stripe"/>
          <p:cNvSpPr/>
          <p:nvPr/>
        </p:nvSpPr>
        <p:spPr>
          <a:xfrm>
            <a:off x="6223000" y="20574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chip"/>
          <p:cNvSpPr/>
          <p:nvPr/>
        </p:nvSpPr>
        <p:spPr>
          <a:xfrm>
            <a:off x="9144000" y="2057400"/>
            <a:ext cx="2743200" cy="787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5C6BC0"/>
                </a:solidFill>
                <a:latin typeface="Calibri" pitchFamily="34" charset="0"/>
              </a:rPr>
              <a:t>RF-08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Interfaz Base de Marketplace</a:t>
            </a:r>
          </a:p>
        </p:txBody>
      </p:sp>
      <p:sp>
        <p:nvSpPr>
          <p:cNvPr id="119" name="stripe"/>
          <p:cNvSpPr/>
          <p:nvPr/>
        </p:nvSpPr>
        <p:spPr>
          <a:xfrm>
            <a:off x="9144000" y="2057400"/>
            <a:ext cx="50800" cy="787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t121"/>
          <p:cNvSpPr/>
          <p:nvPr/>
        </p:nvSpPr>
        <p:spPr>
          <a:xfrm>
            <a:off x="381000" y="2895600"/>
            <a:ext cx="8636000" cy="279400"/>
          </a:xfrm>
          <a:prstGeom prst="rect">
            <a:avLst/>
          </a:prstGeom>
          <a:noFill/>
        </p:spPr>
        <p:txBody>
          <a:bodyPr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s-CL" sz="1600" b="1" spc="200" dirty="0">
                <a:solidFill>
                  <a:srgbClr val="3ECF8E"/>
                </a:solidFill>
                <a:latin typeface="Calibri" pitchFamily="34" charset="0"/>
              </a:rPr>
              <a:t>NO FUNCIONALES (RNF)</a:t>
            </a:r>
            <a:r>
              <a:rPr lang="es-CL" sz="1300" spc="100" dirty="0">
                <a:solidFill>
                  <a:srgbClr val="8892B0"/>
                </a:solidFill>
                <a:latin typeface="Calibri" pitchFamily="34" charset="0"/>
              </a:rPr>
              <a:t>    </a:t>
            </a:r>
          </a:p>
        </p:txBody>
      </p:sp>
      <p:sp>
        <p:nvSpPr>
          <p:cNvPr id="121" name="chip"/>
          <p:cNvSpPr/>
          <p:nvPr/>
        </p:nvSpPr>
        <p:spPr>
          <a:xfrm>
            <a:off x="381000" y="35306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USA-01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Interfaz responsive multiplataforma</a:t>
            </a:r>
          </a:p>
        </p:txBody>
      </p:sp>
      <p:sp>
        <p:nvSpPr>
          <p:cNvPr id="122" name="stripe"/>
          <p:cNvSpPr/>
          <p:nvPr/>
        </p:nvSpPr>
        <p:spPr>
          <a:xfrm>
            <a:off x="381000" y="35306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chip"/>
          <p:cNvSpPr/>
          <p:nvPr/>
        </p:nvSpPr>
        <p:spPr>
          <a:xfrm>
            <a:off x="3302000" y="35306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REN-01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Renderizado de pines en menos de 2 s</a:t>
            </a:r>
          </a:p>
        </p:txBody>
      </p:sp>
      <p:sp>
        <p:nvSpPr>
          <p:cNvPr id="124" name="stripe"/>
          <p:cNvSpPr/>
          <p:nvPr/>
        </p:nvSpPr>
        <p:spPr>
          <a:xfrm>
            <a:off x="3302000" y="35306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5" name="chip"/>
          <p:cNvSpPr/>
          <p:nvPr/>
        </p:nvSpPr>
        <p:spPr>
          <a:xfrm>
            <a:off x="6223000" y="35306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SEG-01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Autenticación unificada segura</a:t>
            </a:r>
          </a:p>
        </p:txBody>
      </p:sp>
      <p:sp>
        <p:nvSpPr>
          <p:cNvPr id="126" name="stripe"/>
          <p:cNvSpPr/>
          <p:nvPr/>
        </p:nvSpPr>
        <p:spPr>
          <a:xfrm>
            <a:off x="6223000" y="35306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" name="chip"/>
          <p:cNvSpPr/>
          <p:nvPr/>
        </p:nvSpPr>
        <p:spPr>
          <a:xfrm>
            <a:off x="9144000" y="35306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MAN-01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Arquitectura modular</a:t>
            </a:r>
          </a:p>
        </p:txBody>
      </p:sp>
      <p:sp>
        <p:nvSpPr>
          <p:cNvPr id="128" name="stripe"/>
          <p:cNvSpPr/>
          <p:nvPr/>
        </p:nvSpPr>
        <p:spPr>
          <a:xfrm>
            <a:off x="9144000" y="35306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chip"/>
          <p:cNvSpPr/>
          <p:nvPr/>
        </p:nvSpPr>
        <p:spPr>
          <a:xfrm>
            <a:off x="381000" y="43688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USA-02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Componentes de diseño unificados</a:t>
            </a:r>
          </a:p>
        </p:txBody>
      </p:sp>
      <p:sp>
        <p:nvSpPr>
          <p:cNvPr id="130" name="stripe"/>
          <p:cNvSpPr/>
          <p:nvPr/>
        </p:nvSpPr>
        <p:spPr>
          <a:xfrm>
            <a:off x="381000" y="43688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1" name="chip"/>
          <p:cNvSpPr/>
          <p:nvPr/>
        </p:nvSpPr>
        <p:spPr>
          <a:xfrm>
            <a:off x="3302000" y="43688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REN-02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Carga inicial en menos de 3 s</a:t>
            </a:r>
          </a:p>
        </p:txBody>
      </p:sp>
      <p:sp>
        <p:nvSpPr>
          <p:cNvPr id="132" name="stripe"/>
          <p:cNvSpPr/>
          <p:nvPr/>
        </p:nvSpPr>
        <p:spPr>
          <a:xfrm>
            <a:off x="3302000" y="43688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3" name="chip"/>
          <p:cNvSpPr/>
          <p:nvPr/>
        </p:nvSpPr>
        <p:spPr>
          <a:xfrm>
            <a:off x="6223000" y="43688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SEG-02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Control de acceso a nivel de fila (RLS)</a:t>
            </a:r>
          </a:p>
        </p:txBody>
      </p:sp>
      <p:sp>
        <p:nvSpPr>
          <p:cNvPr id="134" name="stripe"/>
          <p:cNvSpPr/>
          <p:nvPr/>
        </p:nvSpPr>
        <p:spPr>
          <a:xfrm>
            <a:off x="6223000" y="43688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5" name="chip"/>
          <p:cNvSpPr/>
          <p:nvPr/>
        </p:nvSpPr>
        <p:spPr>
          <a:xfrm>
            <a:off x="9144000" y="43688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MAN-02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Base de código única (Flutter)</a:t>
            </a:r>
          </a:p>
        </p:txBody>
      </p:sp>
      <p:sp>
        <p:nvSpPr>
          <p:cNvPr id="136" name="stripe"/>
          <p:cNvSpPr/>
          <p:nvPr/>
        </p:nvSpPr>
        <p:spPr>
          <a:xfrm>
            <a:off x="9144000" y="43688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7" name="chip"/>
          <p:cNvSpPr/>
          <p:nvPr/>
        </p:nvSpPr>
        <p:spPr>
          <a:xfrm>
            <a:off x="381000" y="52070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USA-03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Accesibilidad: alto contraste en marcadores</a:t>
            </a:r>
          </a:p>
        </p:txBody>
      </p:sp>
      <p:sp>
        <p:nvSpPr>
          <p:cNvPr id="138" name="stripe"/>
          <p:cNvSpPr/>
          <p:nvPr/>
        </p:nvSpPr>
        <p:spPr>
          <a:xfrm>
            <a:off x="381000" y="52070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9" name="chip"/>
          <p:cNvSpPr/>
          <p:nvPr/>
        </p:nvSpPr>
        <p:spPr>
          <a:xfrm>
            <a:off x="3302000" y="52070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REN-03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Sincronización de alertas en tiempo real</a:t>
            </a:r>
          </a:p>
        </p:txBody>
      </p:sp>
      <p:sp>
        <p:nvSpPr>
          <p:cNvPr id="140" name="stripe"/>
          <p:cNvSpPr/>
          <p:nvPr/>
        </p:nvSpPr>
        <p:spPr>
          <a:xfrm>
            <a:off x="3302000" y="52070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1" name="chip"/>
          <p:cNvSpPr/>
          <p:nvPr/>
        </p:nvSpPr>
        <p:spPr>
          <a:xfrm>
            <a:off x="6223000" y="52070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 lnSpcReduction="10000"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SEG-03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Protección de datos sensibles (email)</a:t>
            </a:r>
          </a:p>
        </p:txBody>
      </p:sp>
      <p:sp>
        <p:nvSpPr>
          <p:cNvPr id="142" name="stripe"/>
          <p:cNvSpPr/>
          <p:nvPr/>
        </p:nvSpPr>
        <p:spPr>
          <a:xfrm>
            <a:off x="6223000" y="52070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3" name="chip"/>
          <p:cNvSpPr/>
          <p:nvPr/>
        </p:nvSpPr>
        <p:spPr>
          <a:xfrm>
            <a:off x="9144000" y="5207000"/>
            <a:ext cx="2743200" cy="762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</a:ln>
        </p:spPr>
        <p:txBody>
          <a:bodyPr lIns="165100" tIns="76200" rIns="101600" bIns="63500" rtlCol="0" anchor="ctr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3ECF8E"/>
                </a:solidFill>
                <a:latin typeface="Calibri" pitchFamily="34" charset="0"/>
              </a:rPr>
              <a:t>MAN-03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CL" sz="1400" dirty="0">
                <a:solidFill>
                  <a:srgbClr val="FFFFFF"/>
                </a:solidFill>
                <a:latin typeface="Calibri" pitchFamily="34" charset="0"/>
              </a:rPr>
              <a:t>Compatibilidad multiplataforma</a:t>
            </a:r>
          </a:p>
        </p:txBody>
      </p:sp>
      <p:sp>
        <p:nvSpPr>
          <p:cNvPr id="144" name="stripe"/>
          <p:cNvSpPr/>
          <p:nvPr/>
        </p:nvSpPr>
        <p:spPr>
          <a:xfrm>
            <a:off x="9144000" y="5207000"/>
            <a:ext cx="50800" cy="7620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at200"/>
          <p:cNvSpPr txBox="1"/>
          <p:nvPr/>
        </p:nvSpPr>
        <p:spPr>
          <a:xfrm>
            <a:off x="381000" y="32004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>
              <a:buNone/>
            </a:pPr>
            <a:r>
              <a:rPr lang="es-CL" sz="1200" b="1" spc="150" dirty="0">
                <a:solidFill>
                  <a:srgbClr val="C8D3E8"/>
                </a:solidFill>
                <a:latin typeface="Calibri" pitchFamily="34" charset="0"/>
              </a:rPr>
              <a:t>USABILIDAD</a:t>
            </a:r>
          </a:p>
        </p:txBody>
      </p:sp>
      <p:sp>
        <p:nvSpPr>
          <p:cNvPr id="201" name="cat201"/>
          <p:cNvSpPr txBox="1"/>
          <p:nvPr/>
        </p:nvSpPr>
        <p:spPr>
          <a:xfrm>
            <a:off x="3302000" y="32004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>
              <a:buNone/>
            </a:pPr>
            <a:r>
              <a:rPr lang="es-CL" sz="1200" b="1" spc="150" dirty="0">
                <a:solidFill>
                  <a:srgbClr val="C8D3E8"/>
                </a:solidFill>
                <a:latin typeface="Calibri" pitchFamily="34" charset="0"/>
              </a:rPr>
              <a:t>RENDIMIENTO</a:t>
            </a:r>
          </a:p>
        </p:txBody>
      </p:sp>
      <p:sp>
        <p:nvSpPr>
          <p:cNvPr id="202" name="cat202"/>
          <p:cNvSpPr txBox="1"/>
          <p:nvPr/>
        </p:nvSpPr>
        <p:spPr>
          <a:xfrm>
            <a:off x="6223000" y="32004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>
              <a:buNone/>
            </a:pPr>
            <a:r>
              <a:rPr lang="es-CL" sz="1200" b="1" spc="150" dirty="0">
                <a:solidFill>
                  <a:srgbClr val="C8D3E8"/>
                </a:solidFill>
                <a:latin typeface="Calibri" pitchFamily="34" charset="0"/>
              </a:rPr>
              <a:t>SEGURIDAD</a:t>
            </a:r>
          </a:p>
        </p:txBody>
      </p:sp>
      <p:sp>
        <p:nvSpPr>
          <p:cNvPr id="203" name="cat203"/>
          <p:cNvSpPr txBox="1"/>
          <p:nvPr/>
        </p:nvSpPr>
        <p:spPr>
          <a:xfrm>
            <a:off x="9144000" y="32004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>
              <a:buNone/>
            </a:pPr>
            <a:r>
              <a:rPr lang="es-CL" sz="1200" b="1" spc="150" dirty="0">
                <a:solidFill>
                  <a:srgbClr val="C8D3E8"/>
                </a:solidFill>
                <a:latin typeface="Calibri" pitchFamily="34" charset="0"/>
              </a:rPr>
              <a:t>MANTENIBILIDAD</a:t>
            </a:r>
          </a:p>
        </p:txBody>
      </p:sp>
    </p:spTree>
    <p:extLst>
      <p:ext uri="{BB962C8B-B14F-4D97-AF65-F5344CB8AC3E}">
        <p14:creationId xmlns:p14="http://schemas.microsoft.com/office/powerpoint/2010/main" val="2916394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Incremental — Entregas Funcionales Progresivas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877824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50D4C5F-398C-D95D-96C4-BDDF0355BC96}"/>
              </a:ext>
            </a:extLst>
          </p:cNvPr>
          <p:cNvGrpSpPr/>
          <p:nvPr/>
        </p:nvGrpSpPr>
        <p:grpSpPr>
          <a:xfrm>
            <a:off x="384048" y="969263"/>
            <a:ext cx="8375904" cy="916217"/>
            <a:chOff x="384048" y="969264"/>
            <a:chExt cx="8375904" cy="512064"/>
          </a:xfrm>
        </p:grpSpPr>
        <p:sp>
          <p:nvSpPr>
            <p:cNvPr id="6" name="Shape 4"/>
            <p:cNvSpPr/>
            <p:nvPr/>
          </p:nvSpPr>
          <p:spPr>
            <a:xfrm>
              <a:off x="384048" y="969264"/>
              <a:ext cx="8375904" cy="512064"/>
            </a:xfrm>
            <a:prstGeom prst="rect">
              <a:avLst/>
            </a:prstGeom>
            <a:solidFill>
              <a:srgbClr val="16213E"/>
            </a:solidFill>
            <a:ln w="12700">
              <a:solidFill>
                <a:srgbClr val="2A2F5E"/>
              </a:solidFill>
              <a:prstDash val="solid"/>
            </a:ln>
          </p:spPr>
          <p:txBody>
            <a:bodyPr/>
            <a:lstStyle/>
            <a:p>
              <a:endParaRPr lang="es-CL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530352" y="987552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 adoptará un enfoque de Desarrollo Incremental, organizando el proyecto en incrementos funcionales que se construyen y validan de forma progresiva. Este modelo se ajusta al tamaño del equipo (2 integrantes), permite entregar valor de forma temprana, reducir riesgos y refinar el producto con retroalimentación continua en </a:t>
              </a:r>
              <a:r>
                <a:rPr lang="en-US" sz="14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cada</a:t>
              </a: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dirty="0" err="1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fase</a:t>
              </a:r>
              <a:r>
                <a:rPr lang="en-US" sz="1400" dirty="0">
                  <a:solidFill>
                    <a:srgbClr val="C8D3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400" dirty="0"/>
            </a:p>
          </p:txBody>
        </p:sp>
      </p:grpSp>
      <p:sp>
        <p:nvSpPr>
          <p:cNvPr id="900" name="S900"/>
          <p:cNvSpPr/>
          <p:nvPr/>
        </p:nvSpPr>
        <p:spPr>
          <a:xfrm>
            <a:off x="381000" y="1905000"/>
            <a:ext cx="3683000" cy="2667000"/>
          </a:xfrm>
          <a:prstGeom prst="roundRect">
            <a:avLst>
              <a:gd name="adj" fmla="val 15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1" name="Bar901"/>
          <p:cNvSpPr/>
          <p:nvPr/>
        </p:nvSpPr>
        <p:spPr>
          <a:xfrm>
            <a:off x="381000" y="1905000"/>
            <a:ext cx="3683000" cy="635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Pill902"/>
          <p:cNvSpPr/>
          <p:nvPr/>
        </p:nvSpPr>
        <p:spPr>
          <a:xfrm>
            <a:off x="609600" y="21082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1C2B4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5C6BC0"/>
                </a:solidFill>
                <a:latin typeface="Calibri" pitchFamily="34" charset="0"/>
              </a:rPr>
              <a:t>FASE 1</a:t>
            </a:r>
          </a:p>
        </p:txBody>
      </p:sp>
      <p:sp>
        <p:nvSpPr>
          <p:cNvPr id="903" name="T903"/>
          <p:cNvSpPr txBox="1"/>
          <p:nvPr/>
        </p:nvSpPr>
        <p:spPr>
          <a:xfrm>
            <a:off x="609600" y="2489200"/>
            <a:ext cx="32258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Definición y Levantamiento</a:t>
            </a:r>
          </a:p>
        </p:txBody>
      </p:sp>
      <p:sp>
        <p:nvSpPr>
          <p:cNvPr id="904" name="T904"/>
          <p:cNvSpPr txBox="1"/>
          <p:nvPr/>
        </p:nvSpPr>
        <p:spPr>
          <a:xfrm>
            <a:off x="609600" y="2997200"/>
            <a:ext cx="322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200" b="1" dirty="0">
                <a:solidFill>
                  <a:srgbClr val="5C6BC0"/>
                </a:solidFill>
                <a:latin typeface="Calibri" pitchFamily="34" charset="0"/>
              </a:rPr>
              <a:t>Semanas 1 — 4</a:t>
            </a:r>
          </a:p>
        </p:txBody>
      </p:sp>
      <p:sp>
        <p:nvSpPr>
          <p:cNvPr id="905" name="T905"/>
          <p:cNvSpPr txBox="1"/>
          <p:nvPr/>
        </p:nvSpPr>
        <p:spPr>
          <a:xfrm>
            <a:off x="609600" y="3302000"/>
            <a:ext cx="3225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0000" indent="-150000">
              <a:spcBef>
                <a:spcPts val="500"/>
              </a:spcBef>
              <a:buClr>
                <a:srgbClr val="5C6BC0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S1-2: Levantamiento de requerimientos y configuración del stack</a:t>
            </a:r>
          </a:p>
          <a:p>
            <a:pPr marL="150000" indent="-150000">
              <a:spcBef>
                <a:spcPts val="500"/>
              </a:spcBef>
              <a:buClr>
                <a:srgbClr val="5C6BC0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S2-3: Diseño de arquitectura y modelamiento de BD</a:t>
            </a:r>
          </a:p>
          <a:p>
            <a:pPr marL="150000" indent="-150000">
              <a:spcBef>
                <a:spcPts val="500"/>
              </a:spcBef>
              <a:buClr>
                <a:srgbClr val="5C6BC0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S3-4: Autenticación, identidad y estructura de navegación</a:t>
            </a:r>
          </a:p>
        </p:txBody>
      </p:sp>
      <p:sp>
        <p:nvSpPr>
          <p:cNvPr id="906" name="S906"/>
          <p:cNvSpPr/>
          <p:nvPr/>
        </p:nvSpPr>
        <p:spPr>
          <a:xfrm>
            <a:off x="4254500" y="2768600"/>
            <a:ext cx="3683000" cy="3810000"/>
          </a:xfrm>
          <a:prstGeom prst="roundRect">
            <a:avLst>
              <a:gd name="adj" fmla="val 15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7" name="Bar907"/>
          <p:cNvSpPr/>
          <p:nvPr/>
        </p:nvSpPr>
        <p:spPr>
          <a:xfrm>
            <a:off x="4254500" y="2768600"/>
            <a:ext cx="3683000" cy="635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8" name="Pill908"/>
          <p:cNvSpPr/>
          <p:nvPr/>
        </p:nvSpPr>
        <p:spPr>
          <a:xfrm>
            <a:off x="4483100" y="29718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1C2B4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3ECF8E"/>
                </a:solidFill>
                <a:latin typeface="Calibri" pitchFamily="34" charset="0"/>
              </a:rPr>
              <a:t>FASE 2</a:t>
            </a:r>
          </a:p>
        </p:txBody>
      </p:sp>
      <p:sp>
        <p:nvSpPr>
          <p:cNvPr id="909" name="T909"/>
          <p:cNvSpPr txBox="1"/>
          <p:nvPr/>
        </p:nvSpPr>
        <p:spPr>
          <a:xfrm>
            <a:off x="4483100" y="3352800"/>
            <a:ext cx="32258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Desarrollo, Integración y Validación</a:t>
            </a:r>
          </a:p>
        </p:txBody>
      </p:sp>
      <p:sp>
        <p:nvSpPr>
          <p:cNvPr id="910" name="T910"/>
          <p:cNvSpPr txBox="1"/>
          <p:nvPr/>
        </p:nvSpPr>
        <p:spPr>
          <a:xfrm>
            <a:off x="4483100" y="3860800"/>
            <a:ext cx="322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200" b="1" dirty="0">
                <a:solidFill>
                  <a:srgbClr val="3ECF8E"/>
                </a:solidFill>
                <a:latin typeface="Calibri" pitchFamily="34" charset="0"/>
              </a:rPr>
              <a:t>Semanas 5 — 15</a:t>
            </a:r>
          </a:p>
        </p:txBody>
      </p:sp>
      <p:sp>
        <p:nvSpPr>
          <p:cNvPr id="911" name="T911"/>
          <p:cNvSpPr txBox="1"/>
          <p:nvPr/>
        </p:nvSpPr>
        <p:spPr>
          <a:xfrm>
            <a:off x="4483100" y="4165600"/>
            <a:ext cx="32258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S5-8: Módulo de Alertas en Tiempo Real</a:t>
            </a:r>
          </a:p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S7-10: Módulo de Eventos Comunitarios</a:t>
            </a:r>
          </a:p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S9-12: Módulo de Mercado Local</a:t>
            </a:r>
          </a:p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S11-13: Módulo de Perfil de Usuario</a:t>
            </a:r>
          </a:p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S5-13: Integración de APIs externas (Mapas)</a:t>
            </a:r>
          </a:p>
          <a:p>
            <a:pPr marL="150000" indent="-150000">
              <a:spcBef>
                <a:spcPts val="500"/>
              </a:spcBef>
              <a:buClr>
                <a:srgbClr val="3ECF8E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S12-15: Pruebas, corrección y documentación</a:t>
            </a:r>
          </a:p>
        </p:txBody>
      </p:sp>
      <p:sp>
        <p:nvSpPr>
          <p:cNvPr id="912" name="S912"/>
          <p:cNvSpPr/>
          <p:nvPr/>
        </p:nvSpPr>
        <p:spPr>
          <a:xfrm>
            <a:off x="8128000" y="3632200"/>
            <a:ext cx="3683000" cy="2222500"/>
          </a:xfrm>
          <a:prstGeom prst="roundRect">
            <a:avLst>
              <a:gd name="adj" fmla="val 15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3" name="Bar913"/>
          <p:cNvSpPr/>
          <p:nvPr/>
        </p:nvSpPr>
        <p:spPr>
          <a:xfrm>
            <a:off x="8128000" y="3632200"/>
            <a:ext cx="3683000" cy="63500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Pill914"/>
          <p:cNvSpPr/>
          <p:nvPr/>
        </p:nvSpPr>
        <p:spPr>
          <a:xfrm>
            <a:off x="8356600" y="38354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1C2B4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8892B0"/>
                </a:solidFill>
                <a:latin typeface="Calibri" pitchFamily="34" charset="0"/>
              </a:rPr>
              <a:t>FASE 3</a:t>
            </a:r>
          </a:p>
        </p:txBody>
      </p:sp>
      <p:sp>
        <p:nvSpPr>
          <p:cNvPr id="915" name="T915"/>
          <p:cNvSpPr txBox="1"/>
          <p:nvPr/>
        </p:nvSpPr>
        <p:spPr>
          <a:xfrm>
            <a:off x="8356600" y="4216400"/>
            <a:ext cx="32258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b="1" dirty="0">
                <a:solidFill>
                  <a:srgbClr val="FFFFFF"/>
                </a:solidFill>
                <a:latin typeface="Calibri" pitchFamily="34" charset="0"/>
              </a:rPr>
              <a:t>Cierre y Presentación Formal</a:t>
            </a:r>
          </a:p>
        </p:txBody>
      </p:sp>
      <p:sp>
        <p:nvSpPr>
          <p:cNvPr id="916" name="T916"/>
          <p:cNvSpPr txBox="1"/>
          <p:nvPr/>
        </p:nvSpPr>
        <p:spPr>
          <a:xfrm>
            <a:off x="8356600" y="4724400"/>
            <a:ext cx="322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200" b="1" dirty="0">
                <a:solidFill>
                  <a:srgbClr val="8892B0"/>
                </a:solidFill>
                <a:latin typeface="Calibri" pitchFamily="34" charset="0"/>
              </a:rPr>
              <a:t>Semanas 16 — 18</a:t>
            </a:r>
          </a:p>
        </p:txBody>
      </p:sp>
      <p:sp>
        <p:nvSpPr>
          <p:cNvPr id="917" name="T917"/>
          <p:cNvSpPr txBox="1"/>
          <p:nvPr/>
        </p:nvSpPr>
        <p:spPr>
          <a:xfrm>
            <a:off x="8356600" y="5029200"/>
            <a:ext cx="32258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0000" indent="-150000">
              <a:spcBef>
                <a:spcPts val="500"/>
              </a:spcBef>
              <a:buClr>
                <a:srgbClr val="8892B0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S16-17: Preparación del material y presentación final</a:t>
            </a:r>
          </a:p>
          <a:p>
            <a:pPr marL="150000" indent="-150000">
              <a:spcBef>
                <a:spcPts val="500"/>
              </a:spcBef>
              <a:buClr>
                <a:srgbClr val="8892B0"/>
              </a:buClr>
              <a:buFont typeface="Arial" pitchFamily="34" charset="0"/>
              <a:buChar char="•"/>
            </a:pPr>
            <a:r>
              <a:rPr lang="es-CL" sz="1100" dirty="0">
                <a:solidFill>
                  <a:srgbClr val="C8D3E8"/>
                </a:solidFill>
                <a:latin typeface="Calibri" pitchFamily="34" charset="0"/>
              </a:rPr>
              <a:t>S17-18: Entrega formal ante comisión</a:t>
            </a:r>
          </a:p>
        </p:txBody>
      </p:sp>
      <p:sp>
        <p:nvSpPr>
          <p:cNvPr id="918" name="Arrow918"/>
          <p:cNvSpPr/>
          <p:nvPr/>
        </p:nvSpPr>
        <p:spPr>
          <a:xfrm>
            <a:off x="3911600" y="2870200"/>
            <a:ext cx="508000" cy="279400"/>
          </a:xfrm>
          <a:prstGeom prst="rightArrow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9" name="Arrow919"/>
          <p:cNvSpPr/>
          <p:nvPr/>
        </p:nvSpPr>
        <p:spPr>
          <a:xfrm>
            <a:off x="7785100" y="3733800"/>
            <a:ext cx="508000" cy="279400"/>
          </a:xfrm>
          <a:prstGeom prst="rightArrow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482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— 18 Semanas de Desarrollo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8375904" cy="3877056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987552"/>
            <a:ext cx="837590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A2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</p:txBody>
      </p:sp>
      <p:pic>
        <p:nvPicPr>
          <p:cNvPr id="101" name="Image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7552"/>
            <a:ext cx="116128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kern="0" spc="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950976"/>
            <a:ext cx="1463040" cy="487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09600" y="1072896"/>
            <a:ext cx="73152" cy="1243584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1389888"/>
            <a:ext cx="609600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609344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64736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4736" y="1072896"/>
            <a:ext cx="73152" cy="1243584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192" y="1389888"/>
            <a:ext cx="609600" cy="609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480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64480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BD · Auth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19872" y="1072896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19872" y="1072896"/>
            <a:ext cx="73152" cy="124358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1389888"/>
            <a:ext cx="609600" cy="609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9616" y="134112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19616" y="1755648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· Places · Geocoding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9600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9600" y="2487168"/>
            <a:ext cx="73152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" y="2804160"/>
            <a:ext cx="609600" cy="609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609344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364736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364736" y="2487168"/>
            <a:ext cx="73152" cy="1243584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192" y="2804160"/>
            <a:ext cx="609600" cy="609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4480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364480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de desarrollo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8119872" y="2487168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8119872" y="2487168"/>
            <a:ext cx="73152" cy="12435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2804160"/>
            <a:ext cx="609600" cy="609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19616" y="2755392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119616" y="3169920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por IP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09600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09600" y="3901440"/>
            <a:ext cx="73152" cy="1243584"/>
          </a:xfrm>
          <a:prstGeom prst="rect">
            <a:avLst/>
          </a:prstGeom>
          <a:solidFill>
            <a:srgbClr val="00B4AB"/>
          </a:solidFill>
          <a:ln w="12700">
            <a:solidFill>
              <a:srgbClr val="00B4AB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56" y="4218432"/>
            <a:ext cx="609600" cy="609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09344" y="4169664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1609344" y="4584192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4364736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4364736" y="3901440"/>
            <a:ext cx="73152" cy="124358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192" y="4218432"/>
            <a:ext cx="609600" cy="609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64480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8119872" y="3901440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8119872" y="3901440"/>
            <a:ext cx="73152" cy="124358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9328" y="4218432"/>
            <a:ext cx="609600" cy="609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119616" y="43281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4364736" y="5315712"/>
            <a:ext cx="3535680" cy="1243584"/>
          </a:xfrm>
          <a:prstGeom prst="rect">
            <a:avLst/>
          </a:prstGeom>
          <a:solidFill>
            <a:srgbClr val="16213E"/>
          </a:solidFill>
          <a:ln w="12700">
            <a:solidFill>
              <a:srgbClr val="2A2F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37"/>
          <p:cNvSpPr/>
          <p:nvPr/>
        </p:nvSpPr>
        <p:spPr>
          <a:xfrm>
            <a:off x="4364736" y="5315712"/>
            <a:ext cx="73152" cy="1243584"/>
          </a:xfrm>
          <a:prstGeom prst="rect">
            <a:avLst/>
          </a:prstGeom>
          <a:solidFill>
            <a:srgbClr val="FF7139"/>
          </a:solidFill>
          <a:ln w="12700">
            <a:solidFill>
              <a:srgbClr val="FF7139"/>
            </a:solidFill>
            <a:prstDash val="solid"/>
          </a:ln>
        </p:spPr>
        <p:txBody>
          <a:bodyPr/>
          <a:lstStyle/>
          <a:p>
            <a:pPr defTabSz="1219170"/>
            <a:endParaRPr lang="es-CL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192" y="5632704"/>
            <a:ext cx="609600" cy="609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5364480" y="5583936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39"/>
          <p:cNvSpPr/>
          <p:nvPr/>
        </p:nvSpPr>
        <p:spPr>
          <a:xfrm>
            <a:off x="5364480" y="5998464"/>
            <a:ext cx="237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/ Chrome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6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70560"/>
            <a:ext cx="11460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- </a:t>
            </a:r>
            <a:r>
              <a:rPr lang="en-US" sz="1467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F3B24F50-0D71-D377-79C7-C76A5B90E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1356313"/>
            <a:ext cx="10687050" cy="51117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09CD5-C4E3-3078-193B-139ED13F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307">
            <a:extLst>
              <a:ext uri="{FF2B5EF4-FFF2-40B4-BE49-F238E27FC236}">
                <a16:creationId xmlns:a16="http://schemas.microsoft.com/office/drawing/2014/main" id="{ACF5E152-6B72-9478-FE17-440FA835570B}"/>
              </a:ext>
            </a:extLst>
          </p:cNvPr>
          <p:cNvSpPr/>
          <p:nvPr/>
        </p:nvSpPr>
        <p:spPr>
          <a:xfrm>
            <a:off x="4959971" y="91441"/>
            <a:ext cx="185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ECF8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Datos · Supabase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1" name="Imagen 330">
            <a:extLst>
              <a:ext uri="{FF2B5EF4-FFF2-40B4-BE49-F238E27FC236}">
                <a16:creationId xmlns:a16="http://schemas.microsoft.com/office/drawing/2014/main" id="{4BFE22AE-1749-FE86-7073-1300DBF52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41"/>
            <a:ext cx="12192000" cy="653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76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b="1" kern="0" spc="400" dirty="0">
                <a:solidFill>
                  <a:srgbClr val="FFFFFF"/>
                </a:solidFill>
                <a:latin typeface="Calibri" pitchFamily="34" charset="0"/>
              </a:rPr>
              <a:t>Modelo de Negocio</a:t>
            </a:r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kern="0" spc="100" dirty="0">
                <a:solidFill>
                  <a:srgbClr val="8892B0"/>
                </a:solidFill>
                <a:latin typeface="Calibri" pitchFamily="34" charset="0"/>
              </a:rPr>
              <a:t>De la monetización directa (B2C) a un enfoque sostenible B2B / B2G</a:t>
            </a:r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0" name="Card 1"/>
          <p:cNvSpPr/>
          <p:nvPr/>
        </p:nvSpPr>
        <p:spPr>
          <a:xfrm>
            <a:off x="381000" y="1270000"/>
            <a:ext cx="3632200" cy="1905000"/>
          </a:xfrm>
          <a:prstGeom prst="roundRect">
            <a:avLst>
              <a:gd name="adj" fmla="val 18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1" name="Bar801"/>
          <p:cNvSpPr/>
          <p:nvPr/>
        </p:nvSpPr>
        <p:spPr>
          <a:xfrm>
            <a:off x="381000" y="1270000"/>
            <a:ext cx="3632200" cy="762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2" name="T802"/>
          <p:cNvSpPr txBox="1"/>
          <p:nvPr/>
        </p:nvSpPr>
        <p:spPr>
          <a:xfrm>
            <a:off x="1371600" y="1473200"/>
            <a:ext cx="23622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Anuncios como tarjetas</a:t>
            </a:r>
          </a:p>
        </p:txBody>
      </p:sp>
      <p:sp>
        <p:nvSpPr>
          <p:cNvPr id="803" name="T803"/>
          <p:cNvSpPr txBox="1"/>
          <p:nvPr/>
        </p:nvSpPr>
        <p:spPr>
          <a:xfrm>
            <a:off x="685800" y="1981200"/>
            <a:ext cx="3022600" cy="736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300" dirty="0">
                <a:solidFill>
                  <a:srgbClr val="8892B0"/>
                </a:solidFill>
                <a:latin typeface="Calibri" pitchFamily="34" charset="0"/>
              </a:rPr>
              <a:t>Tarjetas publicitarias no intrusivas, integradas en el feed.</a:t>
            </a:r>
          </a:p>
        </p:txBody>
      </p:sp>
      <p:sp>
        <p:nvSpPr>
          <p:cNvPr id="804" name="Card 2"/>
          <p:cNvSpPr/>
          <p:nvPr/>
        </p:nvSpPr>
        <p:spPr>
          <a:xfrm>
            <a:off x="4279900" y="1270000"/>
            <a:ext cx="3632200" cy="1905000"/>
          </a:xfrm>
          <a:prstGeom prst="roundRect">
            <a:avLst>
              <a:gd name="adj" fmla="val 18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5" name="Bar805"/>
          <p:cNvSpPr/>
          <p:nvPr/>
        </p:nvSpPr>
        <p:spPr>
          <a:xfrm>
            <a:off x="4279900" y="1270000"/>
            <a:ext cx="3632200" cy="76200"/>
          </a:xfrm>
          <a:prstGeom prst="rect">
            <a:avLst/>
          </a:prstGeom>
          <a:solidFill>
            <a:srgbClr val="43C59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6" name="T806"/>
          <p:cNvSpPr txBox="1"/>
          <p:nvPr/>
        </p:nvSpPr>
        <p:spPr>
          <a:xfrm>
            <a:off x="5270500" y="1473200"/>
            <a:ext cx="23622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Plan Premium</a:t>
            </a:r>
          </a:p>
        </p:txBody>
      </p:sp>
      <p:sp>
        <p:nvSpPr>
          <p:cNvPr id="807" name="T807"/>
          <p:cNvSpPr txBox="1"/>
          <p:nvPr/>
        </p:nvSpPr>
        <p:spPr>
          <a:xfrm>
            <a:off x="4584700" y="1981200"/>
            <a:ext cx="3022600" cy="736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300" dirty="0">
                <a:solidFill>
                  <a:srgbClr val="8892B0"/>
                </a:solidFill>
                <a:latin typeface="Calibri" pitchFamily="34" charset="0"/>
              </a:rPr>
              <a:t>Funciones extra: visibilidad prioritaria, grupos privados y más tiempo de anuncio.</a:t>
            </a:r>
          </a:p>
        </p:txBody>
      </p:sp>
      <p:sp>
        <p:nvSpPr>
          <p:cNvPr id="808" name="Card 3"/>
          <p:cNvSpPr/>
          <p:nvPr/>
        </p:nvSpPr>
        <p:spPr>
          <a:xfrm>
            <a:off x="8178800" y="1270000"/>
            <a:ext cx="3632200" cy="1905000"/>
          </a:xfrm>
          <a:prstGeom prst="roundRect">
            <a:avLst>
              <a:gd name="adj" fmla="val 18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09" name="Bar809"/>
          <p:cNvSpPr/>
          <p:nvPr/>
        </p:nvSpPr>
        <p:spPr>
          <a:xfrm>
            <a:off x="8178800" y="1270000"/>
            <a:ext cx="3632200" cy="7620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0" name="T810"/>
          <p:cNvSpPr txBox="1"/>
          <p:nvPr/>
        </p:nvSpPr>
        <p:spPr>
          <a:xfrm>
            <a:off x="9169400" y="1473200"/>
            <a:ext cx="23622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Pago único de impulso</a:t>
            </a:r>
          </a:p>
        </p:txBody>
      </p:sp>
      <p:sp>
        <p:nvSpPr>
          <p:cNvPr id="811" name="T811"/>
          <p:cNvSpPr txBox="1"/>
          <p:nvPr/>
        </p:nvSpPr>
        <p:spPr>
          <a:xfrm>
            <a:off x="8483600" y="1981200"/>
            <a:ext cx="3022600" cy="736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300" dirty="0">
                <a:solidFill>
                  <a:srgbClr val="8892B0"/>
                </a:solidFill>
                <a:latin typeface="Calibri" pitchFamily="34" charset="0"/>
              </a:rPr>
              <a:t>Pago puntual para destacar eventos o ventas en el mercado.</a:t>
            </a:r>
          </a:p>
        </p:txBody>
      </p:sp>
      <p:pic>
        <p:nvPicPr>
          <p:cNvPr id="812" name="Graphic 812" descr="Anunci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447800"/>
            <a:ext cx="431800" cy="431800"/>
          </a:xfrm>
          <a:prstGeom prst="rect">
            <a:avLst/>
          </a:prstGeom>
        </p:spPr>
      </p:pic>
      <p:pic>
        <p:nvPicPr>
          <p:cNvPr id="813" name="Graphic 813" descr="Premiu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1447800"/>
            <a:ext cx="431800" cy="431800"/>
          </a:xfrm>
          <a:prstGeom prst="rect">
            <a:avLst/>
          </a:prstGeom>
        </p:spPr>
      </p:pic>
      <p:pic>
        <p:nvPicPr>
          <p:cNvPr id="814" name="Graphic 814" descr="Impuls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3600" y="1447800"/>
            <a:ext cx="431800" cy="431800"/>
          </a:xfrm>
          <a:prstGeom prst="rect">
            <a:avLst/>
          </a:prstGeom>
        </p:spPr>
      </p:pic>
      <p:sp>
        <p:nvSpPr>
          <p:cNvPr id="820" name="Tag820"/>
          <p:cNvSpPr/>
          <p:nvPr/>
        </p:nvSpPr>
        <p:spPr>
          <a:xfrm>
            <a:off x="685800" y="2692400"/>
            <a:ext cx="2336800" cy="3810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5C6BC0"/>
            </a:solidFill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5C6BC0"/>
                </a:solidFill>
                <a:latin typeface="Calibri" pitchFamily="34" charset="0"/>
              </a:rPr>
              <a:t>Ingresos por anuncios</a:t>
            </a:r>
          </a:p>
        </p:txBody>
      </p:sp>
      <p:sp>
        <p:nvSpPr>
          <p:cNvPr id="821" name="Tag821"/>
          <p:cNvSpPr/>
          <p:nvPr/>
        </p:nvSpPr>
        <p:spPr>
          <a:xfrm>
            <a:off x="4584700" y="2692400"/>
            <a:ext cx="2159000" cy="3810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43C59E"/>
            </a:solidFill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43C59E"/>
                </a:solidFill>
                <a:latin typeface="Calibri" pitchFamily="34" charset="0"/>
              </a:rPr>
              <a:t>Suscripción mensual</a:t>
            </a:r>
          </a:p>
        </p:txBody>
      </p:sp>
      <p:sp>
        <p:nvSpPr>
          <p:cNvPr id="822" name="Tag822"/>
          <p:cNvSpPr/>
          <p:nvPr/>
        </p:nvSpPr>
        <p:spPr>
          <a:xfrm>
            <a:off x="8483600" y="26924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>
            <a:solidFill>
              <a:srgbClr val="E0A458"/>
            </a:solidFill>
          </a:ln>
        </p:spPr>
        <p:txBody>
          <a:bodyPr lIns="0" tIns="0" rIns="0" bIns="0" anchor="ctr"/>
          <a:lstStyle/>
          <a:p>
            <a:pPr algn="ctr"/>
            <a:r>
              <a:rPr lang="es-CL" sz="1100" b="1" spc="60" dirty="0">
                <a:solidFill>
                  <a:srgbClr val="E0A458"/>
                </a:solidFill>
                <a:latin typeface="Calibri" pitchFamily="34" charset="0"/>
              </a:rPr>
              <a:t>Pago puntual</a:t>
            </a:r>
          </a:p>
        </p:txBody>
      </p:sp>
      <p:sp>
        <p:nvSpPr>
          <p:cNvPr id="850" name="secB2C"/>
          <p:cNvSpPr txBox="1"/>
          <p:nvPr/>
        </p:nvSpPr>
        <p:spPr>
          <a:xfrm>
            <a:off x="381000" y="1016000"/>
            <a:ext cx="8382000" cy="20320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marL="0" indent="0">
              <a:buNone/>
            </a:pPr>
            <a:r>
              <a:rPr lang="es-CL" sz="1100" b="1" spc="150" dirty="0">
                <a:solidFill>
                  <a:srgbClr val="5C6BC0"/>
                </a:solidFill>
                <a:latin typeface="Calibri" pitchFamily="34" charset="0"/>
              </a:rPr>
              <a:t>ENFOQUE B2C  ·  MONETIZACIÓN DIRECTA</a:t>
            </a:r>
          </a:p>
        </p:txBody>
      </p:sp>
      <p:sp>
        <p:nvSpPr>
          <p:cNvPr id="880" name="s880"/>
          <p:cNvSpPr/>
          <p:nvPr/>
        </p:nvSpPr>
        <p:spPr>
          <a:xfrm>
            <a:off x="381000" y="3378200"/>
            <a:ext cx="11430000" cy="736600"/>
          </a:xfrm>
          <a:prstGeom prst="roundRect">
            <a:avLst>
              <a:gd name="adj" fmla="val 4000"/>
            </a:avLst>
          </a:prstGeom>
          <a:solidFill>
            <a:srgbClr val="1B2E52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81" name="s881"/>
          <p:cNvSpPr/>
          <p:nvPr/>
        </p:nvSpPr>
        <p:spPr>
          <a:xfrm>
            <a:off x="381000" y="3378200"/>
            <a:ext cx="63500" cy="736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82" name="t882"/>
          <p:cNvSpPr txBox="1"/>
          <p:nvPr/>
        </p:nvSpPr>
        <p:spPr>
          <a:xfrm>
            <a:off x="660400" y="3378200"/>
            <a:ext cx="10922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es-CL" sz="1300" b="1" spc="100" dirty="0">
                <a:solidFill>
                  <a:srgbClr val="E8A33D"/>
                </a:solidFill>
                <a:latin typeface="Calibri" pitchFamily="34" charset="0"/>
              </a:rPr>
              <a:t>RETO</a:t>
            </a:r>
            <a:r>
              <a:rPr lang="es-CL" sz="1300" dirty="0">
                <a:solidFill>
                  <a:srgbClr val="C8D3E8"/>
                </a:solidFill>
                <a:latin typeface="Calibri" pitchFamily="34" charset="0"/>
              </a:rPr>
              <a:t>    En una app de seguridad ciudadana, la publicidad y los planes premium enfrentan baja tolerancia del usuario y escasa disposición de pago.</a:t>
            </a:r>
          </a:p>
        </p:txBody>
      </p:sp>
      <p:sp>
        <p:nvSpPr>
          <p:cNvPr id="855" name="t855"/>
          <p:cNvSpPr txBox="1"/>
          <p:nvPr/>
        </p:nvSpPr>
        <p:spPr>
          <a:xfrm>
            <a:off x="381000" y="4216400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marL="0" indent="0">
              <a:buNone/>
            </a:pPr>
            <a:r>
              <a:rPr lang="es-CL" sz="1100" b="1" spc="150" dirty="0">
                <a:solidFill>
                  <a:srgbClr val="3ECF8E"/>
                </a:solidFill>
                <a:latin typeface="Calibri" pitchFamily="34" charset="0"/>
              </a:rPr>
              <a:t>ALTERNATIVAS VIABLES  ·  B2B / B2G</a:t>
            </a:r>
          </a:p>
        </p:txBody>
      </p:sp>
      <p:sp>
        <p:nvSpPr>
          <p:cNvPr id="860" name="s860"/>
          <p:cNvSpPr/>
          <p:nvPr/>
        </p:nvSpPr>
        <p:spPr>
          <a:xfrm>
            <a:off x="381000" y="4521200"/>
            <a:ext cx="5638800" cy="1854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 w="9525">
            <a:solidFill>
              <a:srgbClr val="2A3A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61" name="s861"/>
          <p:cNvSpPr/>
          <p:nvPr/>
        </p:nvSpPr>
        <p:spPr>
          <a:xfrm>
            <a:off x="381000" y="4521200"/>
            <a:ext cx="5638800" cy="762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62" name="t862"/>
          <p:cNvSpPr txBox="1"/>
          <p:nvPr/>
        </p:nvSpPr>
        <p:spPr>
          <a:xfrm>
            <a:off x="685800" y="4749800"/>
            <a:ext cx="5029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Modelo B2B</a:t>
            </a:r>
            <a:r>
              <a:rPr lang="es-CL" sz="1200" dirty="0">
                <a:solidFill>
                  <a:srgbClr val="8892B0"/>
                </a:solidFill>
                <a:latin typeface="Calibri" pitchFamily="34" charset="0"/>
              </a:rPr>
              <a:t>   · Empresas y comunidades</a:t>
            </a:r>
          </a:p>
        </p:txBody>
      </p:sp>
      <p:sp>
        <p:nvSpPr>
          <p:cNvPr id="863" name="t863"/>
          <p:cNvSpPr txBox="1"/>
          <p:nvPr/>
        </p:nvSpPr>
        <p:spPr>
          <a:xfrm>
            <a:off x="685800" y="5181600"/>
            <a:ext cx="5029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L" sz="1300" dirty="0">
                <a:solidFill>
                  <a:srgbClr val="8892B0"/>
                </a:solidFill>
                <a:latin typeface="Calibri" pitchFamily="34" charset="0"/>
              </a:rPr>
              <a:t>Licencias y planes para administradoras de edificios, condominios e inmobiliarias que gestionan la seguridad de barrios y comunidades privadas.</a:t>
            </a:r>
          </a:p>
        </p:txBody>
      </p:sp>
      <p:sp>
        <p:nvSpPr>
          <p:cNvPr id="864" name="s864"/>
          <p:cNvSpPr/>
          <p:nvPr/>
        </p:nvSpPr>
        <p:spPr>
          <a:xfrm>
            <a:off x="685800" y="5969000"/>
            <a:ext cx="2133600" cy="330200"/>
          </a:xfrm>
          <a:prstGeom prst="roundRect">
            <a:avLst>
              <a:gd name="adj" fmla="val 4000"/>
            </a:avLst>
          </a:prstGeom>
          <a:solidFill>
            <a:srgbClr val="15352B"/>
          </a:solidFill>
          <a:ln w="9525">
            <a:solidFill>
              <a:srgbClr val="3ECF8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65" name="t865"/>
          <p:cNvSpPr txBox="1"/>
          <p:nvPr/>
        </p:nvSpPr>
        <p:spPr>
          <a:xfrm>
            <a:off x="685800" y="5969000"/>
            <a:ext cx="21336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s-CL" sz="1100" b="1" spc="60" dirty="0">
                <a:solidFill>
                  <a:srgbClr val="3ECF8E"/>
                </a:solidFill>
                <a:latin typeface="Calibri" pitchFamily="34" charset="0"/>
              </a:rPr>
              <a:t>Licencias recurrentes</a:t>
            </a:r>
          </a:p>
        </p:txBody>
      </p:sp>
      <p:sp>
        <p:nvSpPr>
          <p:cNvPr id="870" name="s870"/>
          <p:cNvSpPr/>
          <p:nvPr/>
        </p:nvSpPr>
        <p:spPr>
          <a:xfrm>
            <a:off x="6172200" y="4521200"/>
            <a:ext cx="5638800" cy="185420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 w="9525">
            <a:solidFill>
              <a:srgbClr val="2A3A5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71" name="s871"/>
          <p:cNvSpPr/>
          <p:nvPr/>
        </p:nvSpPr>
        <p:spPr>
          <a:xfrm>
            <a:off x="6172200" y="4521200"/>
            <a:ext cx="5638800" cy="7620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872" name="t872"/>
          <p:cNvSpPr txBox="1"/>
          <p:nvPr/>
        </p:nvSpPr>
        <p:spPr>
          <a:xfrm>
            <a:off x="6477000" y="4749800"/>
            <a:ext cx="5029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Modelo B2G</a:t>
            </a:r>
            <a:r>
              <a:rPr lang="es-CL" sz="1200" dirty="0">
                <a:solidFill>
                  <a:srgbClr val="8892B0"/>
                </a:solidFill>
                <a:latin typeface="Calibri" pitchFamily="34" charset="0"/>
              </a:rPr>
              <a:t>   · Municipios y seguridad pública</a:t>
            </a:r>
          </a:p>
        </p:txBody>
      </p:sp>
      <p:sp>
        <p:nvSpPr>
          <p:cNvPr id="873" name="t873"/>
          <p:cNvSpPr txBox="1"/>
          <p:nvPr/>
        </p:nvSpPr>
        <p:spPr>
          <a:xfrm>
            <a:off x="6477000" y="5181600"/>
            <a:ext cx="5029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s-CL" sz="1300" dirty="0">
                <a:solidFill>
                  <a:srgbClr val="8892B0"/>
                </a:solidFill>
                <a:latin typeface="Calibri" pitchFamily="34" charset="0"/>
              </a:rPr>
              <a:t>Convenios con municipios y organismos públicos: panel de incidentes y datos agregados anonimizados para la gestión territorial.</a:t>
            </a:r>
          </a:p>
        </p:txBody>
      </p:sp>
      <p:sp>
        <p:nvSpPr>
          <p:cNvPr id="874" name="s874"/>
          <p:cNvSpPr/>
          <p:nvPr/>
        </p:nvSpPr>
        <p:spPr>
          <a:xfrm>
            <a:off x="6477000" y="5969000"/>
            <a:ext cx="2006600" cy="330200"/>
          </a:xfrm>
          <a:prstGeom prst="roundRect">
            <a:avLst>
              <a:gd name="adj" fmla="val 4000"/>
            </a:avLst>
          </a:prstGeom>
          <a:solidFill>
            <a:srgbClr val="15352B"/>
          </a:solidFill>
          <a:ln w="9525">
            <a:solidFill>
              <a:srgbClr val="3ECF8E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75" name="t875"/>
          <p:cNvSpPr txBox="1"/>
          <p:nvPr/>
        </p:nvSpPr>
        <p:spPr>
          <a:xfrm>
            <a:off x="6477000" y="5969000"/>
            <a:ext cx="20066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s-CL" sz="1100" b="1" spc="60" dirty="0">
                <a:solidFill>
                  <a:srgbClr val="3ECF8E"/>
                </a:solidFill>
                <a:latin typeface="Calibri" pitchFamily="34" charset="0"/>
              </a:rPr>
              <a:t>Contratos públicos</a:t>
            </a:r>
          </a:p>
        </p:txBody>
      </p:sp>
    </p:spTree>
    <p:extLst>
      <p:ext uri="{BB962C8B-B14F-4D97-AF65-F5344CB8AC3E}">
        <p14:creationId xmlns:p14="http://schemas.microsoft.com/office/powerpoint/2010/main" val="2172675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AccentBar"/>
          <p:cNvSpPr/>
          <p:nvPr/>
        </p:nvSpPr>
        <p:spPr>
          <a:xfrm>
            <a:off x="0" y="0"/>
            <a:ext cx="165100" cy="51435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itle"/>
          <p:cNvSpPr/>
          <p:nvPr/>
        </p:nvSpPr>
        <p:spPr>
          <a:xfrm>
            <a:off x="508000" y="2286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s-CL" sz="2200" b="1" spc="300" dirty="0">
                <a:solidFill>
                  <a:srgbClr val="FFFFFF"/>
                </a:solidFill>
                <a:latin typeface="Calibri"/>
              </a:rPr>
              <a:t>BENCHMARK COMPETITIVO</a:t>
            </a:r>
          </a:p>
        </p:txBody>
      </p:sp>
      <p:sp>
        <p:nvSpPr>
          <p:cNvPr id="102" name="Subtitle"/>
          <p:cNvSpPr/>
          <p:nvPr/>
        </p:nvSpPr>
        <p:spPr>
          <a:xfrm>
            <a:off x="508000" y="7366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s-CL" sz="1200" b="0" spc="20" dirty="0">
                <a:solidFill>
                  <a:srgbClr val="8892B0"/>
                </a:solidFill>
                <a:latin typeface="Calibri"/>
              </a:rPr>
              <a:t>Polaris frente a SoSafe y otras apps del mercado — enfoque social y comunitario</a:t>
            </a:r>
          </a:p>
        </p:txBody>
      </p:sp>
      <p:sp>
        <p:nvSpPr>
          <p:cNvPr id="103" name="Divider"/>
          <p:cNvSpPr/>
          <p:nvPr/>
        </p:nvSpPr>
        <p:spPr>
          <a:xfrm>
            <a:off x="508000" y="1143000"/>
            <a:ext cx="11176000" cy="12700"/>
          </a:xfrm>
          <a:prstGeom prst="rect">
            <a:avLst/>
          </a:prstGeom>
          <a:solidFill>
            <a:srgbClr val="2A2F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hDim"/>
          <p:cNvSpPr/>
          <p:nvPr/>
        </p:nvSpPr>
        <p:spPr>
          <a:xfrm>
            <a:off x="508000" y="1219200"/>
            <a:ext cx="2717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spc="120" dirty="0">
                <a:solidFill>
                  <a:srgbClr val="8892B0"/>
                </a:solidFill>
                <a:latin typeface="Calibri"/>
              </a:rPr>
              <a:t>DIMENSIÓN</a:t>
            </a:r>
          </a:p>
        </p:txBody>
      </p:sp>
      <p:sp>
        <p:nvSpPr>
          <p:cNvPr id="201" name="hPol"/>
          <p:cNvSpPr/>
          <p:nvPr/>
        </p:nvSpPr>
        <p:spPr>
          <a:xfrm>
            <a:off x="3327400" y="1219200"/>
            <a:ext cx="2844800" cy="457200"/>
          </a:xfrm>
          <a:prstGeom prst="roundRect">
            <a:avLst>
              <a:gd name="adj" fmla="val 6000"/>
            </a:avLst>
          </a:prstGeom>
          <a:solidFill>
            <a:srgbClr val="1BC7D6"/>
          </a:solidFill>
          <a:ln w="12700">
            <a:solidFill>
              <a:srgbClr val="6FE9F2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s-CL" sz="1300" b="1" spc="120" dirty="0">
                <a:solidFill>
                  <a:srgbClr val="06222A"/>
                </a:solidFill>
                <a:latin typeface="Calibri"/>
              </a:rPr>
              <a:t>POLARIS</a:t>
            </a:r>
          </a:p>
        </p:txBody>
      </p:sp>
      <p:sp>
        <p:nvSpPr>
          <p:cNvPr id="202" name="hSo"/>
          <p:cNvSpPr/>
          <p:nvPr/>
        </p:nvSpPr>
        <p:spPr>
          <a:xfrm>
            <a:off x="6273800" y="1219200"/>
            <a:ext cx="2844800" cy="457200"/>
          </a:xfrm>
          <a:prstGeom prst="roundRect">
            <a:avLst>
              <a:gd name="adj" fmla="val 6000"/>
            </a:avLst>
          </a:prstGeom>
          <a:solidFill>
            <a:srgbClr val="FF5CA0"/>
          </a:solidFill>
          <a:ln w="12700">
            <a:solidFill>
              <a:srgbClr val="FF99C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s-CL" sz="1300" b="1" spc="120" dirty="0">
                <a:solidFill>
                  <a:srgbClr val="3A0A20"/>
                </a:solidFill>
                <a:latin typeface="Calibri"/>
              </a:rPr>
              <a:t>SOSAFE</a:t>
            </a:r>
          </a:p>
        </p:txBody>
      </p:sp>
      <p:sp>
        <p:nvSpPr>
          <p:cNvPr id="203" name="hOt"/>
          <p:cNvSpPr/>
          <p:nvPr/>
        </p:nvSpPr>
        <p:spPr>
          <a:xfrm>
            <a:off x="9220200" y="1219200"/>
            <a:ext cx="2717800" cy="457200"/>
          </a:xfrm>
          <a:prstGeom prst="roundRect">
            <a:avLst>
              <a:gd name="adj" fmla="val 6000"/>
            </a:avLst>
          </a:prstGeom>
          <a:solidFill>
            <a:srgbClr val="2A3550"/>
          </a:solidFill>
          <a:ln w="12700">
            <a:solidFill>
              <a:srgbClr val="3F4D6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lang="es-CL" sz="1300" b="1" spc="80" dirty="0">
                <a:solidFill>
                  <a:srgbClr val="C8D3E8"/>
                </a:solidFill>
                <a:latin typeface="Calibri"/>
              </a:rPr>
              <a:t>OTRAS APPS</a:t>
            </a:r>
          </a:p>
        </p:txBody>
      </p:sp>
      <p:sp>
        <p:nvSpPr>
          <p:cNvPr id="210" name="crit0"/>
          <p:cNvSpPr/>
          <p:nvPr/>
        </p:nvSpPr>
        <p:spPr>
          <a:xfrm>
            <a:off x="508000" y="17526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Propósito principal</a:t>
            </a:r>
          </a:p>
        </p:txBody>
      </p:sp>
      <p:sp>
        <p:nvSpPr>
          <p:cNvPr id="211" name="pol0"/>
          <p:cNvSpPr/>
          <p:nvPr/>
        </p:nvSpPr>
        <p:spPr>
          <a:xfrm>
            <a:off x="3327400" y="17526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Comunidad, seguridad y comercio</a:t>
            </a:r>
          </a:p>
        </p:txBody>
      </p:sp>
      <p:sp>
        <p:nvSpPr>
          <p:cNvPr id="212" name="dot212"/>
          <p:cNvSpPr/>
          <p:nvPr/>
        </p:nvSpPr>
        <p:spPr>
          <a:xfrm>
            <a:off x="3467100" y="20002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so0"/>
          <p:cNvSpPr/>
          <p:nvPr/>
        </p:nvSpPr>
        <p:spPr>
          <a:xfrm>
            <a:off x="6273800" y="17526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Seguridad y alertas</a:t>
            </a:r>
          </a:p>
        </p:txBody>
      </p:sp>
      <p:sp>
        <p:nvSpPr>
          <p:cNvPr id="215" name="ot0"/>
          <p:cNvSpPr/>
          <p:nvPr/>
        </p:nvSpPr>
        <p:spPr>
          <a:xfrm>
            <a:off x="9220200" y="17526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Solo social o solo seguridad</a:t>
            </a:r>
          </a:p>
        </p:txBody>
      </p:sp>
      <p:sp>
        <p:nvSpPr>
          <p:cNvPr id="216" name="dot216"/>
          <p:cNvSpPr/>
          <p:nvPr/>
        </p:nvSpPr>
        <p:spPr>
          <a:xfrm>
            <a:off x="9359900" y="20002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crit1"/>
          <p:cNvSpPr/>
          <p:nvPr/>
        </p:nvSpPr>
        <p:spPr>
          <a:xfrm>
            <a:off x="508000" y="24384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Plataforma centralizada</a:t>
            </a:r>
          </a:p>
        </p:txBody>
      </p:sp>
      <p:sp>
        <p:nvSpPr>
          <p:cNvPr id="218" name="pol1"/>
          <p:cNvSpPr/>
          <p:nvPr/>
        </p:nvSpPr>
        <p:spPr>
          <a:xfrm>
            <a:off x="3327400" y="24384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Todo en una sola app</a:t>
            </a:r>
          </a:p>
        </p:txBody>
      </p:sp>
      <p:sp>
        <p:nvSpPr>
          <p:cNvPr id="219" name="dot219"/>
          <p:cNvSpPr/>
          <p:nvPr/>
        </p:nvSpPr>
        <p:spPr>
          <a:xfrm>
            <a:off x="3467100" y="26860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so1"/>
          <p:cNvSpPr/>
          <p:nvPr/>
        </p:nvSpPr>
        <p:spPr>
          <a:xfrm>
            <a:off x="6273800" y="24384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Acotada a alertas</a:t>
            </a:r>
          </a:p>
        </p:txBody>
      </p:sp>
      <p:sp>
        <p:nvSpPr>
          <p:cNvPr id="221" name="dot221"/>
          <p:cNvSpPr/>
          <p:nvPr/>
        </p:nvSpPr>
        <p:spPr>
          <a:xfrm>
            <a:off x="6413500" y="26860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ot1"/>
          <p:cNvSpPr/>
          <p:nvPr/>
        </p:nvSpPr>
        <p:spPr>
          <a:xfrm>
            <a:off x="9220200" y="24384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Funciones aisladas</a:t>
            </a:r>
          </a:p>
        </p:txBody>
      </p:sp>
      <p:sp>
        <p:nvSpPr>
          <p:cNvPr id="223" name="dot223"/>
          <p:cNvSpPr/>
          <p:nvPr/>
        </p:nvSpPr>
        <p:spPr>
          <a:xfrm>
            <a:off x="9359900" y="26860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crit2"/>
          <p:cNvSpPr/>
          <p:nvPr/>
        </p:nvSpPr>
        <p:spPr>
          <a:xfrm>
            <a:off x="508000" y="31242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Comunicación vecinal</a:t>
            </a:r>
          </a:p>
        </p:txBody>
      </p:sp>
      <p:sp>
        <p:nvSpPr>
          <p:cNvPr id="225" name="pol2"/>
          <p:cNvSpPr/>
          <p:nvPr/>
        </p:nvSpPr>
        <p:spPr>
          <a:xfrm>
            <a:off x="3327400" y="31242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Amigable y cotidiana</a:t>
            </a:r>
          </a:p>
        </p:txBody>
      </p:sp>
      <p:sp>
        <p:nvSpPr>
          <p:cNvPr id="226" name="dot226"/>
          <p:cNvSpPr/>
          <p:nvPr/>
        </p:nvSpPr>
        <p:spPr>
          <a:xfrm>
            <a:off x="3467100" y="33718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so2"/>
          <p:cNvSpPr/>
          <p:nvPr/>
        </p:nvSpPr>
        <p:spPr>
          <a:xfrm>
            <a:off x="6273800" y="31242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Reactiva (reportes)</a:t>
            </a:r>
          </a:p>
        </p:txBody>
      </p:sp>
      <p:sp>
        <p:nvSpPr>
          <p:cNvPr id="228" name="dot228"/>
          <p:cNvSpPr/>
          <p:nvPr/>
        </p:nvSpPr>
        <p:spPr>
          <a:xfrm>
            <a:off x="6413500" y="3371850"/>
            <a:ext cx="114300" cy="1143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ot2"/>
          <p:cNvSpPr/>
          <p:nvPr/>
        </p:nvSpPr>
        <p:spPr>
          <a:xfrm>
            <a:off x="9220200" y="31242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Variable / limitada</a:t>
            </a:r>
          </a:p>
        </p:txBody>
      </p:sp>
      <p:sp>
        <p:nvSpPr>
          <p:cNvPr id="230" name="dot230"/>
          <p:cNvSpPr/>
          <p:nvPr/>
        </p:nvSpPr>
        <p:spPr>
          <a:xfrm>
            <a:off x="9359900" y="3371850"/>
            <a:ext cx="114300" cy="1143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crit3"/>
          <p:cNvSpPr/>
          <p:nvPr/>
        </p:nvSpPr>
        <p:spPr>
          <a:xfrm>
            <a:off x="508000" y="38100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Sentido de comunidad</a:t>
            </a:r>
          </a:p>
        </p:txBody>
      </p:sp>
      <p:sp>
        <p:nvSpPr>
          <p:cNvPr id="232" name="pol3"/>
          <p:cNvSpPr/>
          <p:nvPr/>
        </p:nvSpPr>
        <p:spPr>
          <a:xfrm>
            <a:off x="3327400" y="38100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Funciones sociales activas</a:t>
            </a:r>
          </a:p>
        </p:txBody>
      </p:sp>
      <p:sp>
        <p:nvSpPr>
          <p:cNvPr id="233" name="dot233"/>
          <p:cNvSpPr/>
          <p:nvPr/>
        </p:nvSpPr>
        <p:spPr>
          <a:xfrm>
            <a:off x="3467100" y="40576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so3"/>
          <p:cNvSpPr/>
          <p:nvPr/>
        </p:nvSpPr>
        <p:spPr>
          <a:xfrm>
            <a:off x="6273800" y="38100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Limitado</a:t>
            </a:r>
          </a:p>
        </p:txBody>
      </p:sp>
      <p:sp>
        <p:nvSpPr>
          <p:cNvPr id="235" name="dot235"/>
          <p:cNvSpPr/>
          <p:nvPr/>
        </p:nvSpPr>
        <p:spPr>
          <a:xfrm>
            <a:off x="6413500" y="40576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ot3"/>
          <p:cNvSpPr/>
          <p:nvPr/>
        </p:nvSpPr>
        <p:spPr>
          <a:xfrm>
            <a:off x="9220200" y="38100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Escaso</a:t>
            </a:r>
          </a:p>
        </p:txBody>
      </p:sp>
      <p:sp>
        <p:nvSpPr>
          <p:cNvPr id="237" name="dot237"/>
          <p:cNvSpPr/>
          <p:nvPr/>
        </p:nvSpPr>
        <p:spPr>
          <a:xfrm>
            <a:off x="9359900" y="40576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crit4"/>
          <p:cNvSpPr/>
          <p:nvPr/>
        </p:nvSpPr>
        <p:spPr>
          <a:xfrm>
            <a:off x="508000" y="44958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Comercio local integrado</a:t>
            </a:r>
          </a:p>
        </p:txBody>
      </p:sp>
      <p:sp>
        <p:nvSpPr>
          <p:cNvPr id="239" name="pol4"/>
          <p:cNvSpPr/>
          <p:nvPr/>
        </p:nvSpPr>
        <p:spPr>
          <a:xfrm>
            <a:off x="3327400" y="44958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Integrado y accesible</a:t>
            </a:r>
          </a:p>
        </p:txBody>
      </p:sp>
      <p:sp>
        <p:nvSpPr>
          <p:cNvPr id="240" name="dot240"/>
          <p:cNvSpPr/>
          <p:nvPr/>
        </p:nvSpPr>
        <p:spPr>
          <a:xfrm>
            <a:off x="3467100" y="47434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so4"/>
          <p:cNvSpPr/>
          <p:nvPr/>
        </p:nvSpPr>
        <p:spPr>
          <a:xfrm>
            <a:off x="6273800" y="44958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Existe, pero no enfocado</a:t>
            </a:r>
          </a:p>
        </p:txBody>
      </p:sp>
      <p:sp>
        <p:nvSpPr>
          <p:cNvPr id="242" name="dot242"/>
          <p:cNvSpPr/>
          <p:nvPr/>
        </p:nvSpPr>
        <p:spPr>
          <a:xfrm>
            <a:off x="6413500" y="4743450"/>
            <a:ext cx="114300" cy="1143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3" name="ot4"/>
          <p:cNvSpPr/>
          <p:nvPr/>
        </p:nvSpPr>
        <p:spPr>
          <a:xfrm>
            <a:off x="9220200" y="44958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No integrado</a:t>
            </a:r>
          </a:p>
        </p:txBody>
      </p:sp>
      <p:sp>
        <p:nvSpPr>
          <p:cNvPr id="244" name="dot244"/>
          <p:cNvSpPr/>
          <p:nvPr/>
        </p:nvSpPr>
        <p:spPr>
          <a:xfrm>
            <a:off x="9359900" y="47434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crit5"/>
          <p:cNvSpPr/>
          <p:nvPr/>
        </p:nvSpPr>
        <p:spPr>
          <a:xfrm>
            <a:off x="508000" y="51816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>
            <a:noFill/>
          </a:ln>
        </p:spPr>
        <p:txBody>
          <a:bodyPr wrap="square" lIns="177800" tIns="0" rIns="76200" bIns="0" anchor="ctr">
            <a:normAutofit/>
          </a:bodyPr>
          <a:lstStyle/>
          <a:p>
            <a:pPr algn="l">
              <a:buNone/>
            </a:pPr>
            <a:r>
              <a:rPr lang="es-CL" sz="1150" b="1" dirty="0">
                <a:solidFill>
                  <a:srgbClr val="FFFFFF"/>
                </a:solidFill>
                <a:latin typeface="Calibri"/>
              </a:rPr>
              <a:t>Publicidad y experiencia</a:t>
            </a:r>
          </a:p>
        </p:txBody>
      </p:sp>
      <p:sp>
        <p:nvSpPr>
          <p:cNvPr id="246" name="pol5"/>
          <p:cNvSpPr/>
          <p:nvPr/>
        </p:nvSpPr>
        <p:spPr>
          <a:xfrm>
            <a:off x="3327400" y="51816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112240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C8D3E8"/>
                </a:solidFill>
                <a:latin typeface="Calibri"/>
              </a:rPr>
              <a:t>Sin pop-ups · UI simple</a:t>
            </a:r>
          </a:p>
        </p:txBody>
      </p:sp>
      <p:sp>
        <p:nvSpPr>
          <p:cNvPr id="247" name="dot247"/>
          <p:cNvSpPr/>
          <p:nvPr/>
        </p:nvSpPr>
        <p:spPr>
          <a:xfrm>
            <a:off x="3467100" y="5429250"/>
            <a:ext cx="114300" cy="114300"/>
          </a:xfrm>
          <a:prstGeom prst="ellipse">
            <a:avLst/>
          </a:prstGeom>
          <a:solidFill>
            <a:srgbClr val="3ECF8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8" name="so5"/>
          <p:cNvSpPr/>
          <p:nvPr/>
        </p:nvSpPr>
        <p:spPr>
          <a:xfrm>
            <a:off x="6273800" y="5181600"/>
            <a:ext cx="2844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Pop-ups: premium y seguros</a:t>
            </a:r>
          </a:p>
        </p:txBody>
      </p:sp>
      <p:sp>
        <p:nvSpPr>
          <p:cNvPr id="249" name="dot249"/>
          <p:cNvSpPr/>
          <p:nvPr/>
        </p:nvSpPr>
        <p:spPr>
          <a:xfrm>
            <a:off x="6413500" y="54292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ot5"/>
          <p:cNvSpPr/>
          <p:nvPr/>
        </p:nvSpPr>
        <p:spPr>
          <a:xfrm>
            <a:off x="9220200" y="5181600"/>
            <a:ext cx="2717800" cy="6096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>
            <a:noFill/>
          </a:ln>
        </p:spPr>
        <p:txBody>
          <a:bodyPr wrap="square" lIns="330200" tIns="0" rIns="101600" bIns="0" anchor="ctr">
            <a:normAutofit/>
          </a:bodyPr>
          <a:lstStyle/>
          <a:p>
            <a:pPr algn="l">
              <a:buNone/>
            </a:pPr>
            <a:r>
              <a:rPr lang="es-CL" sz="1100" b="0" dirty="0">
                <a:solidFill>
                  <a:srgbClr val="AEB6C8"/>
                </a:solidFill>
                <a:latin typeface="Calibri"/>
              </a:rPr>
              <a:t>Anuncios + UI saturada (bloat)</a:t>
            </a:r>
          </a:p>
        </p:txBody>
      </p:sp>
      <p:sp>
        <p:nvSpPr>
          <p:cNvPr id="251" name="dot251"/>
          <p:cNvSpPr/>
          <p:nvPr/>
        </p:nvSpPr>
        <p:spPr>
          <a:xfrm>
            <a:off x="9359900" y="542925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Takeaway"/>
          <p:cNvSpPr/>
          <p:nvPr/>
        </p:nvSpPr>
        <p:spPr>
          <a:xfrm>
            <a:off x="508000" y="5892800"/>
            <a:ext cx="11430000" cy="482600"/>
          </a:xfrm>
          <a:prstGeom prst="roundRect">
            <a:avLst>
              <a:gd name="adj" fmla="val 5000"/>
            </a:avLst>
          </a:prstGeom>
          <a:solidFill>
            <a:srgbClr val="15352B"/>
          </a:solidFill>
          <a:ln w="12700">
            <a:solidFill>
              <a:srgbClr val="3ECF8E"/>
            </a:solidFill>
          </a:ln>
        </p:spPr>
        <p:txBody>
          <a:bodyPr wrap="square" lIns="254000" tIns="0" rIns="254000" bIns="0" anchor="ctr">
            <a:normAutofit/>
          </a:bodyPr>
          <a:lstStyle/>
          <a:p>
            <a:pPr algn="l">
              <a:buNone/>
            </a:pPr>
            <a:r>
              <a:rPr lang="es-CL" sz="1200" b="1" dirty="0">
                <a:solidFill>
                  <a:srgbClr val="3ECF8E"/>
                </a:solidFill>
                <a:latin typeface="Calibri"/>
              </a:rPr>
              <a:t>Diferenciador:  </a:t>
            </a:r>
            <a:r>
              <a:rPr lang="es-CL" sz="1200" b="0" dirty="0">
                <a:solidFill>
                  <a:srgbClr val="C8D3E8"/>
                </a:solidFill>
                <a:latin typeface="Calibri"/>
              </a:rPr>
              <a:t>Polaris centraliza seguridad, vida social y comercio local en una experiencia limpia, sin pop-ups ni anuncios intrusivos.</a:t>
            </a:r>
          </a:p>
        </p:txBody>
      </p:sp>
      <p:sp>
        <p:nvSpPr>
          <p:cNvPr id="3" name="dot221">
            <a:extLst>
              <a:ext uri="{FF2B5EF4-FFF2-40B4-BE49-F238E27FC236}">
                <a16:creationId xmlns:a16="http://schemas.microsoft.com/office/drawing/2014/main" id="{D87ACFA1-B51C-7264-5C34-BE13D1C423FD}"/>
              </a:ext>
            </a:extLst>
          </p:cNvPr>
          <p:cNvSpPr/>
          <p:nvPr/>
        </p:nvSpPr>
        <p:spPr>
          <a:xfrm>
            <a:off x="6413500" y="2011680"/>
            <a:ext cx="114300" cy="114300"/>
          </a:xfrm>
          <a:prstGeom prst="ellipse">
            <a:avLst/>
          </a:prstGeom>
          <a:solidFill>
            <a:srgbClr val="E0556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908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585216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00" name="T700"/>
          <p:cNvSpPr txBox="1"/>
          <p:nvPr/>
        </p:nvSpPr>
        <p:spPr>
          <a:xfrm>
            <a:off x="1016000" y="3530600"/>
            <a:ext cx="10160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CL" sz="3200" b="1" spc="80" dirty="0">
                <a:solidFill>
                  <a:srgbClr val="FFFFFF"/>
                </a:solidFill>
                <a:latin typeface="Calibri" pitchFamily="34" charset="0"/>
                <a:hlinkClick r:id="rId3"/>
              </a:rPr>
              <a:t>Ver la demostración en vivo</a:t>
            </a:r>
            <a:endParaRPr lang="es-CL" sz="3200" b="1" spc="8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01" name="T701"/>
          <p:cNvSpPr txBox="1"/>
          <p:nvPr/>
        </p:nvSpPr>
        <p:spPr>
          <a:xfrm>
            <a:off x="1016000" y="4368800"/>
            <a:ext cx="10160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s-CL" sz="1600" b="1" u="sng" spc="80" dirty="0">
                <a:solidFill>
                  <a:srgbClr val="43C59E"/>
                </a:solidFill>
                <a:latin typeface="Calibri" pitchFamily="34" charset="0"/>
              </a:rPr>
              <a:t>polaris-demo.netlify.app</a:t>
            </a:r>
          </a:p>
        </p:txBody>
      </p:sp>
      <p:pic>
        <p:nvPicPr>
          <p:cNvPr id="702" name="Graphic 702" descr="Clic para abrir dem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0400" y="26035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29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b="1" kern="0" spc="400" dirty="0">
                <a:solidFill>
                  <a:srgbClr val="FFFFFF"/>
                </a:solidFill>
                <a:latin typeface="Calibri" pitchFamily="34" charset="0"/>
              </a:rPr>
              <a:t>Mejoras Futuras</a:t>
            </a:r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50" kern="0" spc="100" dirty="0">
                <a:solidFill>
                  <a:srgbClr val="8892B0"/>
                </a:solidFill>
                <a:latin typeface="Calibri" pitchFamily="34" charset="0"/>
              </a:rPr>
              <a:t>Próximas funcionalidades para la aplicación Polaris</a:t>
            </a:r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8375904" cy="13716"/>
          </a:xfrm>
          <a:prstGeom prst="rect">
            <a:avLst/>
          </a:prstGeom>
          <a:solidFill>
            <a:srgbClr val="2A2F5E"/>
          </a:solidFill>
          <a:ln w="12700">
            <a:solidFill>
              <a:srgbClr val="2A2F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0" name="Card 01"/>
          <p:cNvSpPr/>
          <p:nvPr/>
        </p:nvSpPr>
        <p:spPr>
          <a:xfrm>
            <a:off x="381000" y="1397000"/>
            <a:ext cx="5588000" cy="22225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1" name="Badge 01"/>
          <p:cNvSpPr/>
          <p:nvPr/>
        </p:nvSpPr>
        <p:spPr>
          <a:xfrm>
            <a:off x="685800" y="19050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5C6BC0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02" name="T602"/>
          <p:cNvSpPr txBox="1"/>
          <p:nvPr/>
        </p:nvSpPr>
        <p:spPr>
          <a:xfrm>
            <a:off x="1498600" y="1968500"/>
            <a:ext cx="4292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Red visual de barrio</a:t>
            </a:r>
          </a:p>
        </p:txBody>
      </p:sp>
      <p:sp>
        <p:nvSpPr>
          <p:cNvPr id="603" name="T603"/>
          <p:cNvSpPr txBox="1"/>
          <p:nvPr/>
        </p:nvSpPr>
        <p:spPr>
          <a:xfrm>
            <a:off x="685800" y="2641600"/>
            <a:ext cx="5105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dirty="0">
                <a:solidFill>
                  <a:srgbClr val="8892B0"/>
                </a:solidFill>
                <a:latin typeface="Calibri" pitchFamily="34" charset="0"/>
              </a:rPr>
              <a:t>Mapa interactivo que conecta visualmente a los vecinos de un mismo sector.</a:t>
            </a:r>
          </a:p>
        </p:txBody>
      </p:sp>
      <p:sp>
        <p:nvSpPr>
          <p:cNvPr id="604" name="Card 02"/>
          <p:cNvSpPr/>
          <p:nvPr/>
        </p:nvSpPr>
        <p:spPr>
          <a:xfrm>
            <a:off x="6223000" y="1397000"/>
            <a:ext cx="5588000" cy="22225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 sz="2400"/>
          </a:p>
        </p:txBody>
      </p:sp>
      <p:sp>
        <p:nvSpPr>
          <p:cNvPr id="605" name="Badge 02"/>
          <p:cNvSpPr/>
          <p:nvPr/>
        </p:nvSpPr>
        <p:spPr>
          <a:xfrm>
            <a:off x="6527800" y="19050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43C59E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06" name="T606"/>
          <p:cNvSpPr txBox="1"/>
          <p:nvPr/>
        </p:nvSpPr>
        <p:spPr>
          <a:xfrm>
            <a:off x="7340600" y="1968500"/>
            <a:ext cx="4292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Roles verificados</a:t>
            </a:r>
          </a:p>
        </p:txBody>
      </p:sp>
      <p:sp>
        <p:nvSpPr>
          <p:cNvPr id="607" name="T607"/>
          <p:cNvSpPr txBox="1"/>
          <p:nvPr/>
        </p:nvSpPr>
        <p:spPr>
          <a:xfrm>
            <a:off x="6527800" y="2641600"/>
            <a:ext cx="5105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dirty="0">
                <a:solidFill>
                  <a:srgbClr val="8892B0"/>
                </a:solidFill>
                <a:latin typeface="Calibri" pitchFamily="34" charset="0"/>
              </a:rPr>
              <a:t>Usuarios verificados de un barrio con roles definidos, por ejemplo: moderador.</a:t>
            </a:r>
          </a:p>
        </p:txBody>
      </p:sp>
      <p:sp>
        <p:nvSpPr>
          <p:cNvPr id="608" name="Card 03"/>
          <p:cNvSpPr/>
          <p:nvPr/>
        </p:nvSpPr>
        <p:spPr>
          <a:xfrm>
            <a:off x="381000" y="4064000"/>
            <a:ext cx="5588000" cy="22225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9" name="Badge 03"/>
          <p:cNvSpPr/>
          <p:nvPr/>
        </p:nvSpPr>
        <p:spPr>
          <a:xfrm>
            <a:off x="685800" y="45720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E0556E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10" name="T610"/>
          <p:cNvSpPr txBox="1"/>
          <p:nvPr/>
        </p:nvSpPr>
        <p:spPr>
          <a:xfrm>
            <a:off x="1498600" y="4635500"/>
            <a:ext cx="4292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Servicios de seguridad</a:t>
            </a:r>
          </a:p>
        </p:txBody>
      </p:sp>
      <p:sp>
        <p:nvSpPr>
          <p:cNvPr id="611" name="T611"/>
          <p:cNvSpPr txBox="1"/>
          <p:nvPr/>
        </p:nvSpPr>
        <p:spPr>
          <a:xfrm>
            <a:off x="685800" y="5308600"/>
            <a:ext cx="5105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dirty="0">
                <a:solidFill>
                  <a:srgbClr val="8892B0"/>
                </a:solidFill>
                <a:latin typeface="Calibri" pitchFamily="34" charset="0"/>
              </a:rPr>
              <a:t>Integración con servicios de emergencia como Carabineros y Bomberos.</a:t>
            </a:r>
          </a:p>
        </p:txBody>
      </p:sp>
      <p:sp>
        <p:nvSpPr>
          <p:cNvPr id="612" name="Card 04"/>
          <p:cNvSpPr/>
          <p:nvPr/>
        </p:nvSpPr>
        <p:spPr>
          <a:xfrm>
            <a:off x="6223000" y="4064000"/>
            <a:ext cx="5588000" cy="2222500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 w="12700">
            <a:solidFill>
              <a:srgbClr val="2A3A5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3" name="Badge 04"/>
          <p:cNvSpPr/>
          <p:nvPr/>
        </p:nvSpPr>
        <p:spPr>
          <a:xfrm>
            <a:off x="6527800" y="4572000"/>
            <a:ext cx="558800" cy="558800"/>
          </a:xfrm>
          <a:prstGeom prst="roundRect">
            <a:avLst>
              <a:gd name="adj" fmla="val 25000"/>
            </a:avLst>
          </a:prstGeom>
          <a:solidFill>
            <a:srgbClr val="E0A458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614" name="T614"/>
          <p:cNvSpPr txBox="1"/>
          <p:nvPr/>
        </p:nvSpPr>
        <p:spPr>
          <a:xfrm>
            <a:off x="7340600" y="4635500"/>
            <a:ext cx="4292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es-CL" sz="1600" b="1" dirty="0">
                <a:solidFill>
                  <a:srgbClr val="FFFFFF"/>
                </a:solidFill>
                <a:latin typeface="Calibri" pitchFamily="34" charset="0"/>
              </a:rPr>
              <a:t>Interfaz de cámaras</a:t>
            </a:r>
          </a:p>
        </p:txBody>
      </p:sp>
      <p:sp>
        <p:nvSpPr>
          <p:cNvPr id="615" name="T615"/>
          <p:cNvSpPr txBox="1"/>
          <p:nvPr/>
        </p:nvSpPr>
        <p:spPr>
          <a:xfrm>
            <a:off x="6527800" y="5308600"/>
            <a:ext cx="5105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es-CL" sz="1400" dirty="0">
                <a:solidFill>
                  <a:srgbClr val="8892B0"/>
                </a:solidFill>
                <a:latin typeface="Calibri" pitchFamily="34" charset="0"/>
              </a:rPr>
              <a:t>Interfaz para integrar y visualizar cámaras de seguridad particulares.</a:t>
            </a:r>
          </a:p>
        </p:txBody>
      </p:sp>
      <p:pic>
        <p:nvPicPr>
          <p:cNvPr id="616" name="Graphic 616" descr="Red de barr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100" y="2019300"/>
            <a:ext cx="330200" cy="330200"/>
          </a:xfrm>
          <a:prstGeom prst="rect">
            <a:avLst/>
          </a:prstGeom>
        </p:spPr>
      </p:pic>
      <p:pic>
        <p:nvPicPr>
          <p:cNvPr id="617" name="Graphic 617" descr="Roles verificad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2100" y="2019300"/>
            <a:ext cx="330200" cy="330200"/>
          </a:xfrm>
          <a:prstGeom prst="rect">
            <a:avLst/>
          </a:prstGeom>
        </p:spPr>
      </p:pic>
      <p:pic>
        <p:nvPicPr>
          <p:cNvPr id="618" name="Graphic 618" descr="Servicios de segurid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0" y="4686300"/>
            <a:ext cx="330200" cy="330200"/>
          </a:xfrm>
          <a:prstGeom prst="rect">
            <a:avLst/>
          </a:prstGeom>
        </p:spPr>
      </p:pic>
      <p:pic>
        <p:nvPicPr>
          <p:cNvPr id="619" name="Graphic 619" descr="Cámaras propi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2100" y="46863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3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4297680" y="0"/>
            <a:ext cx="32004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84048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783080"/>
            <a:ext cx="3200400" cy="27432"/>
          </a:xfrm>
          <a:prstGeom prst="rect">
            <a:avLst/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— Red Social Vecinal Multiplataforma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3042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busca ser la plataforma de referencia para la seguridad e integración comunitaria en Chile, combinando tecnología moderna con un enfoque humano y colaborativo.</a:t>
            </a:r>
            <a:endParaRPr lang="en-US" sz="1400" dirty="0"/>
          </a:p>
        </p:txBody>
      </p:sp>
      <p:pic>
        <p:nvPicPr>
          <p:cNvPr id="200" name="Image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-1"/>
            <a:ext cx="7620000" cy="6861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3962BB-0AFD-4EBD-B1E3-556DDD3E776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5d2b39e-5e17-4a6d-8e0d-6ba504340d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2230</TotalTime>
  <Words>1287</Words>
  <Application>Microsoft Office PowerPoint</Application>
  <PresentationFormat>Panorámica</PresentationFormat>
  <Paragraphs>263</Paragraphs>
  <Slides>18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Pinilla</dc:creator>
  <cp:lastModifiedBy>Nicolas Pinilla</cp:lastModifiedBy>
  <cp:revision>29</cp:revision>
  <dcterms:created xsi:type="dcterms:W3CDTF">2026-04-09T22:56:05Z</dcterms:created>
  <dcterms:modified xsi:type="dcterms:W3CDTF">2026-06-26T06:20:12Z</dcterms:modified>
</cp:coreProperties>
</file>