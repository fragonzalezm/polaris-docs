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78" r:id="rId3"/>
    <p:sldId id="277" r:id="rId4"/>
    <p:sldId id="259" r:id="rId5"/>
    <p:sldId id="260" r:id="rId6"/>
    <p:sldId id="276" r:id="rId7"/>
    <p:sldId id="275" r:id="rId8"/>
    <p:sldId id="279" r:id="rId9"/>
    <p:sldId id="269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4B8B14-B55B-4664-AE54-742ED0A2902D}" v="1" dt="2026-04-10T03:15:32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7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E16A9-1BDC-43B3-920F-EA852EC4342A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C1289-13FE-4095-A8BE-A3B4E7CE7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20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C1289-13FE-4095-A8BE-A3B4E7CE7A78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7920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156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7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36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383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836" r:id="rId2"/>
    <p:sldLayoutId id="2147483837" r:id="rId3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297680" y="0"/>
            <a:ext cx="32004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84048" y="14630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84048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Social Vecinal Multiplataforma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2798064"/>
            <a:ext cx="3200400" cy="228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84048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Pinilla</a:t>
            </a:r>
            <a:endParaRPr 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González</a:t>
            </a:r>
            <a:endParaRPr lang="en-US" sz="1600" dirty="0"/>
          </a:p>
        </p:txBody>
      </p:sp>
      <p:pic>
        <p:nvPicPr>
          <p:cNvPr id="100" name="Image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7620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363200" y="0"/>
            <a:ext cx="1828800" cy="146304"/>
          </a:xfrm>
          <a:prstGeom prst="rect">
            <a:avLst/>
          </a:prstGeom>
          <a:solidFill>
            <a:srgbClr val="3ECF8E">
              <a:alpha val="60000"/>
            </a:srgbClr>
          </a:solidFill>
          <a:ln w="12700">
            <a:solidFill>
              <a:srgbClr val="3ECF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1216640" y="219456"/>
            <a:ext cx="975360" cy="97536"/>
          </a:xfrm>
          <a:prstGeom prst="rect">
            <a:avLst/>
          </a:prstGeom>
          <a:solidFill>
            <a:srgbClr val="5C6BC0">
              <a:alpha val="60000"/>
            </a:srgbClr>
          </a:solidFill>
          <a:ln w="12700">
            <a:solidFill>
              <a:srgbClr val="5C6BC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12064" y="268224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kern="0" spc="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2064" y="829056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kern="0" spc="133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Responsabilidades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2064" y="1243584"/>
            <a:ext cx="11167872" cy="18288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12064" y="1487424"/>
            <a:ext cx="5425440" cy="481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12064" y="1487424"/>
            <a:ext cx="5425440" cy="85344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55904" y="1645920"/>
            <a:ext cx="1024128" cy="1024128"/>
          </a:xfrm>
          <a:prstGeom prst="ellipse">
            <a:avLst/>
          </a:prstGeom>
          <a:solidFill>
            <a:srgbClr val="5C6BC0">
              <a:alpha val="85000"/>
            </a:srgbClr>
          </a:solidFill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55904" y="1645920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75104" y="1792224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Pinilla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75104" y="2316480"/>
            <a:ext cx="3779520" cy="292608"/>
          </a:xfrm>
          <a:prstGeom prst="rect">
            <a:avLst/>
          </a:prstGeom>
          <a:solidFill>
            <a:srgbClr val="5C6BC0">
              <a:alpha val="25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023872" y="23164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b="1" kern="0" spc="133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 ·  ARQUITECTO  ·  UI/UX · LEAD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80288" y="2852929"/>
            <a:ext cx="4888992" cy="14631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80288" y="3084576"/>
            <a:ext cx="463296" cy="463296"/>
          </a:xfrm>
          <a:prstGeom prst="ellipse">
            <a:avLst/>
          </a:prstGeom>
          <a:solidFill>
            <a:srgbClr val="5C6BC0">
              <a:alpha val="20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2" y="3169920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89888" y="304800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web y móvil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80288" y="3816096"/>
            <a:ext cx="463296" cy="463296"/>
          </a:xfrm>
          <a:prstGeom prst="ellipse">
            <a:avLst/>
          </a:prstGeom>
          <a:solidFill>
            <a:srgbClr val="5C6BC0">
              <a:alpha val="20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32" y="3901440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389888" y="377952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base de datos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780288" y="4547616"/>
            <a:ext cx="463296" cy="463296"/>
          </a:xfrm>
          <a:prstGeom prst="ellipse">
            <a:avLst/>
          </a:prstGeom>
          <a:solidFill>
            <a:srgbClr val="5C6BC0">
              <a:alpha val="20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32" y="4632960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89888" y="451104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UI / UX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780288" y="5279136"/>
            <a:ext cx="463296" cy="463296"/>
          </a:xfrm>
          <a:prstGeom prst="ellipse">
            <a:avLst/>
          </a:prstGeom>
          <a:solidFill>
            <a:srgbClr val="5C6BC0">
              <a:alpha val="20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632" y="536448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89888" y="524256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del proyecto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6230112" y="1487424"/>
            <a:ext cx="5425440" cy="481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3"/>
          <p:cNvSpPr/>
          <p:nvPr/>
        </p:nvSpPr>
        <p:spPr>
          <a:xfrm>
            <a:off x="6230112" y="1487424"/>
            <a:ext cx="5425440" cy="85344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4"/>
          <p:cNvSpPr/>
          <p:nvPr/>
        </p:nvSpPr>
        <p:spPr>
          <a:xfrm>
            <a:off x="6473952" y="1645920"/>
            <a:ext cx="1024128" cy="1024128"/>
          </a:xfrm>
          <a:prstGeom prst="ellipse">
            <a:avLst/>
          </a:prstGeom>
          <a:solidFill>
            <a:srgbClr val="3ECF8E">
              <a:alpha val="85000"/>
            </a:srgbClr>
          </a:solidFill>
          <a:ln w="1905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5"/>
          <p:cNvSpPr/>
          <p:nvPr/>
        </p:nvSpPr>
        <p:spPr>
          <a:xfrm>
            <a:off x="6473952" y="1645920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7693152" y="1792224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González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7693152" y="2316480"/>
            <a:ext cx="3779520" cy="292608"/>
          </a:xfrm>
          <a:prstGeom prst="rect">
            <a:avLst/>
          </a:prstGeom>
          <a:solidFill>
            <a:srgbClr val="3ECF8E">
              <a:alpha val="25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28"/>
          <p:cNvSpPr/>
          <p:nvPr/>
        </p:nvSpPr>
        <p:spPr>
          <a:xfrm>
            <a:off x="7741920" y="23164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b="1" kern="0" spc="133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 ·  QA  ·  DOCUMENTACIÓN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6498336" y="2852929"/>
            <a:ext cx="4888992" cy="14631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0"/>
          <p:cNvSpPr/>
          <p:nvPr/>
        </p:nvSpPr>
        <p:spPr>
          <a:xfrm>
            <a:off x="6498336" y="3084576"/>
            <a:ext cx="463296" cy="463296"/>
          </a:xfrm>
          <a:prstGeom prst="ellipse">
            <a:avLst/>
          </a:prstGeom>
          <a:solidFill>
            <a:srgbClr val="3ECF8E">
              <a:alpha val="20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169920"/>
            <a:ext cx="292608" cy="29260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107936" y="304800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requerimientos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6498336" y="3816096"/>
            <a:ext cx="463296" cy="463296"/>
          </a:xfrm>
          <a:prstGeom prst="ellipse">
            <a:avLst/>
          </a:prstGeom>
          <a:solidFill>
            <a:srgbClr val="3ECF8E">
              <a:alpha val="20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901440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107936" y="377952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del proyecto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6498336" y="4547616"/>
            <a:ext cx="463296" cy="463296"/>
          </a:xfrm>
          <a:prstGeom prst="ellipse">
            <a:avLst/>
          </a:prstGeom>
          <a:solidFill>
            <a:srgbClr val="3ECF8E">
              <a:alpha val="20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4632960"/>
            <a:ext cx="292608" cy="29260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107936" y="451104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QA y control de calidad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6498336" y="5279136"/>
            <a:ext cx="463296" cy="463296"/>
          </a:xfrm>
          <a:prstGeom prst="ellipse">
            <a:avLst/>
          </a:prstGeom>
          <a:solidFill>
            <a:srgbClr val="3ECF8E">
              <a:alpha val="20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5364480"/>
            <a:ext cx="292608" cy="29260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107936" y="524256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Testeo multiplataforma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38"/>
          <p:cNvSpPr/>
          <p:nvPr/>
        </p:nvSpPr>
        <p:spPr>
          <a:xfrm>
            <a:off x="512064" y="6437376"/>
            <a:ext cx="1116787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kern="0" spc="267" dirty="0">
                <a:solidFill>
                  <a:srgbClr val="3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integrantes  ·  Proyecto Polaris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3152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53766" y="939393"/>
            <a:ext cx="5376672" cy="4985919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84048" y="932688"/>
            <a:ext cx="4041648" cy="54864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045271" y="1723644"/>
            <a:ext cx="3858768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Inseguridad Urbana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7" y="1723644"/>
            <a:ext cx="5004623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Chile, y particularmente en las zonas urbanas de la Región Metropolitana, la inseguridad es una preocupación que crece año tras año, ligado también a una desconfianza creciente entre vecinos al no estar al tanto de lo que ocurre en sus alrededores.</a:t>
            </a:r>
            <a:endParaRPr lang="en-U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5D61CC06-5B52-9B80-1F83-B1BDDFC236A2}"/>
              </a:ext>
            </a:extLst>
          </p:cNvPr>
          <p:cNvGrpSpPr/>
          <p:nvPr/>
        </p:nvGrpSpPr>
        <p:grpSpPr>
          <a:xfrm>
            <a:off x="6431280" y="932688"/>
            <a:ext cx="5376672" cy="4992624"/>
            <a:chOff x="4718304" y="932688"/>
            <a:chExt cx="4041648" cy="3291840"/>
          </a:xfrm>
        </p:grpSpPr>
        <p:sp>
          <p:nvSpPr>
            <p:cNvPr id="9" name="Shape 7"/>
            <p:cNvSpPr/>
            <p:nvPr/>
          </p:nvSpPr>
          <p:spPr>
            <a:xfrm>
              <a:off x="4718304" y="932688"/>
              <a:ext cx="4041648" cy="329184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Shape 8"/>
            <p:cNvSpPr/>
            <p:nvPr/>
          </p:nvSpPr>
          <p:spPr>
            <a:xfrm>
              <a:off x="4718304" y="932688"/>
              <a:ext cx="4041648" cy="54864"/>
            </a:xfrm>
            <a:prstGeom prst="rect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 9"/>
            <p:cNvSpPr/>
            <p:nvPr/>
          </p:nvSpPr>
          <p:spPr>
            <a:xfrm>
              <a:off x="4809744" y="1407037"/>
              <a:ext cx="385876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💬</a:t>
              </a: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Comunicación</a:t>
              </a:r>
              <a:r>
                <a:rPr lang="en-US" sz="3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Fragmentada</a:t>
              </a:r>
            </a:p>
          </p:txBody>
        </p:sp>
        <p:sp>
          <p:nvSpPr>
            <p:cNvPr id="12" name="Text 10"/>
            <p:cNvSpPr/>
            <p:nvPr/>
          </p:nvSpPr>
          <p:spPr>
            <a:xfrm>
              <a:off x="4837176" y="1435608"/>
              <a:ext cx="3858768" cy="2620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comunicación entre vecinos actualmente es fragmentada y limitada. Se basa principalmente en grupos de WhatsApp informales, redes sociales generalistas o apps como SoSafe, que ofrecen funcionalidades limitadas para la comunidad, eventos y comercio local. Esto genera insatisfacción en la comunicación vecinal.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3152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61F43F89-8723-C0E2-8666-F4663DAE48FD}"/>
              </a:ext>
            </a:extLst>
          </p:cNvPr>
          <p:cNvGrpSpPr/>
          <p:nvPr/>
        </p:nvGrpSpPr>
        <p:grpSpPr>
          <a:xfrm>
            <a:off x="384048" y="960120"/>
            <a:ext cx="11603736" cy="2560320"/>
            <a:chOff x="384048" y="960120"/>
            <a:chExt cx="8375904" cy="2560320"/>
          </a:xfrm>
        </p:grpSpPr>
        <p:sp>
          <p:nvSpPr>
            <p:cNvPr id="5" name="Shape 3"/>
            <p:cNvSpPr/>
            <p:nvPr/>
          </p:nvSpPr>
          <p:spPr>
            <a:xfrm>
              <a:off x="384048" y="960120"/>
              <a:ext cx="8375904" cy="256032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84048" y="960120"/>
              <a:ext cx="54864" cy="2560320"/>
            </a:xfrm>
            <a:prstGeom prst="rect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 5"/>
            <p:cNvSpPr/>
            <p:nvPr/>
          </p:nvSpPr>
          <p:spPr>
            <a:xfrm>
              <a:off x="658368" y="1078992"/>
              <a:ext cx="7973568" cy="2331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 propósito de Polaris no es solo la seguridad, es formar una red de comunicación entre vecinos que sea rápida, atractiva y fácil de interactuar. Busca fortalecer las comunidades con sus funciones y su red social. Algo que hasta el día de hoy no se ha ofrecido debido al limitado alcance que tienen las aplicaciones en el mercado.</a:t>
              </a:r>
              <a:endParaRPr lang="en-US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C8835F11-FBA3-F6F6-3C63-7F1A4E904D41}"/>
              </a:ext>
            </a:extLst>
          </p:cNvPr>
          <p:cNvGrpSpPr/>
          <p:nvPr/>
        </p:nvGrpSpPr>
        <p:grpSpPr>
          <a:xfrm>
            <a:off x="384048" y="4215384"/>
            <a:ext cx="11603736" cy="1682496"/>
            <a:chOff x="384048" y="3749040"/>
            <a:chExt cx="8247888" cy="822960"/>
          </a:xfrm>
        </p:grpSpPr>
        <p:sp>
          <p:nvSpPr>
            <p:cNvPr id="8" name="Shape 6"/>
            <p:cNvSpPr/>
            <p:nvPr/>
          </p:nvSpPr>
          <p:spPr>
            <a:xfrm>
              <a:off x="384048" y="3749040"/>
              <a:ext cx="1965960" cy="8229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4400"/>
            </a:p>
          </p:txBody>
        </p:sp>
        <p:sp>
          <p:nvSpPr>
            <p:cNvPr id="9" name="Text 7"/>
            <p:cNvSpPr/>
            <p:nvPr/>
          </p:nvSpPr>
          <p:spPr>
            <a:xfrm>
              <a:off x="384048" y="3767328"/>
              <a:ext cx="1965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dirty="0">
                  <a:solidFill>
                    <a:srgbClr val="000000"/>
                  </a:solidFill>
                </a:rPr>
                <a:t>🔒</a:t>
              </a:r>
              <a:endParaRPr lang="en-US" sz="4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84048" y="4133088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Seguridad</a:t>
              </a:r>
              <a:endParaRPr lang="en-US" sz="2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478024" y="3749040"/>
              <a:ext cx="1965960" cy="8229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4400"/>
            </a:p>
          </p:txBody>
        </p:sp>
        <p:sp>
          <p:nvSpPr>
            <p:cNvPr id="12" name="Text 10"/>
            <p:cNvSpPr/>
            <p:nvPr/>
          </p:nvSpPr>
          <p:spPr>
            <a:xfrm>
              <a:off x="2478024" y="3767328"/>
              <a:ext cx="1965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dirty="0">
                  <a:solidFill>
                    <a:srgbClr val="000000"/>
                  </a:solidFill>
                </a:rPr>
                <a:t>🤝</a:t>
              </a:r>
              <a:endParaRPr lang="en-US" sz="4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478024" y="4133088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Comunidad</a:t>
              </a:r>
              <a:endParaRPr lang="en-US" sz="2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72000" y="3749040"/>
              <a:ext cx="1965960" cy="8229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4400"/>
            </a:p>
          </p:txBody>
        </p:sp>
        <p:sp>
          <p:nvSpPr>
            <p:cNvPr id="15" name="Text 13"/>
            <p:cNvSpPr/>
            <p:nvPr/>
          </p:nvSpPr>
          <p:spPr>
            <a:xfrm>
              <a:off x="4572000" y="3767328"/>
              <a:ext cx="1965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dirty="0">
                  <a:solidFill>
                    <a:srgbClr val="000000"/>
                  </a:solidFill>
                </a:rPr>
                <a:t>📍</a:t>
              </a:r>
              <a:endParaRPr lang="en-US" sz="48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72000" y="4133088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Geolocalización</a:t>
              </a:r>
              <a:endParaRPr lang="en-US" sz="2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665976" y="3749040"/>
              <a:ext cx="1965960" cy="8229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4400"/>
            </a:p>
          </p:txBody>
        </p:sp>
        <p:sp>
          <p:nvSpPr>
            <p:cNvPr id="18" name="Text 16"/>
            <p:cNvSpPr/>
            <p:nvPr/>
          </p:nvSpPr>
          <p:spPr>
            <a:xfrm>
              <a:off x="6665976" y="3767328"/>
              <a:ext cx="1965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dirty="0">
                  <a:solidFill>
                    <a:srgbClr val="000000"/>
                  </a:solidFill>
                </a:rPr>
                <a:t>🛒</a:t>
              </a:r>
              <a:endParaRPr lang="en-US" sz="48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665976" y="4133088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Comercio Local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3152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06313C7B-27F9-7AC2-5369-EEFE932B8D76}"/>
              </a:ext>
            </a:extLst>
          </p:cNvPr>
          <p:cNvGrpSpPr/>
          <p:nvPr/>
        </p:nvGrpSpPr>
        <p:grpSpPr>
          <a:xfrm>
            <a:off x="301753" y="960120"/>
            <a:ext cx="5532119" cy="3611880"/>
            <a:chOff x="319841" y="960120"/>
            <a:chExt cx="4316167" cy="3611880"/>
          </a:xfrm>
        </p:grpSpPr>
        <p:sp>
          <p:nvSpPr>
            <p:cNvPr id="5" name="Shape 3"/>
            <p:cNvSpPr/>
            <p:nvPr/>
          </p:nvSpPr>
          <p:spPr>
            <a:xfrm>
              <a:off x="319841" y="960120"/>
              <a:ext cx="4251960" cy="361188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Shape 4"/>
            <p:cNvSpPr/>
            <p:nvPr/>
          </p:nvSpPr>
          <p:spPr>
            <a:xfrm>
              <a:off x="384048" y="960120"/>
              <a:ext cx="4251960" cy="64008"/>
            </a:xfrm>
            <a:prstGeom prst="rect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 5"/>
            <p:cNvSpPr/>
            <p:nvPr/>
          </p:nvSpPr>
          <p:spPr>
            <a:xfrm>
              <a:off x="548640" y="1097280"/>
              <a:ext cx="3931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Propósito de Seguridad</a:t>
              </a:r>
              <a:endParaRPr lang="en-US" sz="2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48640" y="1536192"/>
              <a:ext cx="3931920" cy="13716"/>
            </a:xfrm>
            <a:prstGeom prst="rect">
              <a:avLst/>
            </a:prstGeom>
            <a:solidFill>
              <a:srgbClr val="2A2F5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1664208"/>
              <a:ext cx="3931920" cy="274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Entregar un servicio de alertas moderno e intuitivo que permita proteger la comunidad del vecindario y ofrecer un espacio seguro para interactuar.</a:t>
              </a:r>
              <a:endParaRPr lang="en-US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6A0C878-09F5-74A5-0F24-86762D2F573C}"/>
              </a:ext>
            </a:extLst>
          </p:cNvPr>
          <p:cNvGrpSpPr/>
          <p:nvPr/>
        </p:nvGrpSpPr>
        <p:grpSpPr>
          <a:xfrm>
            <a:off x="6358128" y="960120"/>
            <a:ext cx="5449824" cy="3611880"/>
            <a:chOff x="4764024" y="960120"/>
            <a:chExt cx="4251960" cy="3611880"/>
          </a:xfrm>
        </p:grpSpPr>
        <p:sp>
          <p:nvSpPr>
            <p:cNvPr id="10" name="Shape 8"/>
            <p:cNvSpPr/>
            <p:nvPr/>
          </p:nvSpPr>
          <p:spPr>
            <a:xfrm>
              <a:off x="4764024" y="960120"/>
              <a:ext cx="4251960" cy="361188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Shape 9"/>
            <p:cNvSpPr/>
            <p:nvPr/>
          </p:nvSpPr>
          <p:spPr>
            <a:xfrm>
              <a:off x="4764024" y="960120"/>
              <a:ext cx="4251960" cy="64008"/>
            </a:xfrm>
            <a:prstGeom prst="rect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 10"/>
            <p:cNvSpPr/>
            <p:nvPr/>
          </p:nvSpPr>
          <p:spPr>
            <a:xfrm>
              <a:off x="4928616" y="1097280"/>
              <a:ext cx="3931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Propósito</a:t>
              </a:r>
              <a:r>
                <a:rPr lang="en-US" sz="13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Social</a:t>
              </a:r>
            </a:p>
          </p:txBody>
        </p:sp>
        <p:sp>
          <p:nvSpPr>
            <p:cNvPr id="13" name="Shape 11"/>
            <p:cNvSpPr/>
            <p:nvPr/>
          </p:nvSpPr>
          <p:spPr>
            <a:xfrm>
              <a:off x="4928616" y="1536192"/>
              <a:ext cx="3931920" cy="13716"/>
            </a:xfrm>
            <a:prstGeom prst="rect">
              <a:avLst/>
            </a:prstGeom>
            <a:solidFill>
              <a:srgbClr val="2A2F5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 12"/>
            <p:cNvSpPr/>
            <p:nvPr/>
          </p:nvSpPr>
          <p:spPr>
            <a:xfrm>
              <a:off x="4928616" y="1664208"/>
              <a:ext cx="3931920" cy="274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Ofrecer un servicio y espacio social en el cual los usuarios pueden compartir, vender y realizar actividades recreacionales con el objetivo de fortalecer el sentimiento de unidad y seguridad de la comunidad.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3152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C8A1AD9D-9D5C-06FF-B212-9FB56CB98278}"/>
              </a:ext>
            </a:extLst>
          </p:cNvPr>
          <p:cNvGrpSpPr/>
          <p:nvPr/>
        </p:nvGrpSpPr>
        <p:grpSpPr>
          <a:xfrm>
            <a:off x="384048" y="960120"/>
            <a:ext cx="11247120" cy="2523744"/>
            <a:chOff x="384048" y="960120"/>
            <a:chExt cx="8641080" cy="1600200"/>
          </a:xfrm>
        </p:grpSpPr>
        <p:sp>
          <p:nvSpPr>
            <p:cNvPr id="5" name="Shape 3"/>
            <p:cNvSpPr/>
            <p:nvPr/>
          </p:nvSpPr>
          <p:spPr>
            <a:xfrm>
              <a:off x="384048" y="960120"/>
              <a:ext cx="2788920" cy="160020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2800"/>
            </a:p>
          </p:txBody>
        </p:sp>
        <p:sp>
          <p:nvSpPr>
            <p:cNvPr id="6" name="Shape 4"/>
            <p:cNvSpPr/>
            <p:nvPr/>
          </p:nvSpPr>
          <p:spPr>
            <a:xfrm>
              <a:off x="384048" y="960120"/>
              <a:ext cx="2788920" cy="54864"/>
            </a:xfrm>
            <a:prstGeom prst="rect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sz="2800"/>
            </a:p>
          </p:txBody>
        </p:sp>
        <p:sp>
          <p:nvSpPr>
            <p:cNvPr id="7" name="Text 5"/>
            <p:cNvSpPr/>
            <p:nvPr/>
          </p:nvSpPr>
          <p:spPr>
            <a:xfrm>
              <a:off x="493776" y="1069848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📱</a:t>
              </a:r>
              <a:endParaRPr lang="en-US" sz="3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78408" y="1069848"/>
              <a:ext cx="2057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Multiplataforma</a:t>
              </a:r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93776" y="1581912"/>
              <a:ext cx="2560320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Aplicación disponible para Web, Android e iOS.</a:t>
              </a:r>
              <a:endParaRPr lang="en-US" sz="14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310128" y="960120"/>
              <a:ext cx="2788920" cy="160020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2800"/>
            </a:p>
          </p:txBody>
        </p:sp>
        <p:sp>
          <p:nvSpPr>
            <p:cNvPr id="11" name="Shape 9"/>
            <p:cNvSpPr/>
            <p:nvPr/>
          </p:nvSpPr>
          <p:spPr>
            <a:xfrm>
              <a:off x="3310128" y="960120"/>
              <a:ext cx="2788920" cy="54864"/>
            </a:xfrm>
            <a:prstGeom prst="rect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sz="2800"/>
            </a:p>
          </p:txBody>
        </p:sp>
        <p:sp>
          <p:nvSpPr>
            <p:cNvPr id="12" name="Text 10"/>
            <p:cNvSpPr/>
            <p:nvPr/>
          </p:nvSpPr>
          <p:spPr>
            <a:xfrm>
              <a:off x="3419856" y="1069848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🔔</a:t>
              </a:r>
              <a:endParaRPr lang="en-US" sz="3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904488" y="1069848"/>
              <a:ext cx="2057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Alertas en Tiempo Real</a:t>
              </a: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19856" y="1581912"/>
              <a:ext cx="2560320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Sistema de alertas de seguridad y eventos comunitarios actualizados en tiempo real.</a:t>
              </a:r>
              <a:endParaRPr lang="en-US" sz="14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236208" y="960120"/>
              <a:ext cx="2788920" cy="160020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2800"/>
            </a:p>
          </p:txBody>
        </p:sp>
        <p:sp>
          <p:nvSpPr>
            <p:cNvPr id="16" name="Shape 14"/>
            <p:cNvSpPr/>
            <p:nvPr/>
          </p:nvSpPr>
          <p:spPr>
            <a:xfrm>
              <a:off x="6236208" y="960120"/>
              <a:ext cx="2788920" cy="54864"/>
            </a:xfrm>
            <a:prstGeom prst="rect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sz="2800"/>
            </a:p>
          </p:txBody>
        </p:sp>
        <p:sp>
          <p:nvSpPr>
            <p:cNvPr id="17" name="Text 15"/>
            <p:cNvSpPr/>
            <p:nvPr/>
          </p:nvSpPr>
          <p:spPr>
            <a:xfrm>
              <a:off x="6345936" y="1069848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🧭</a:t>
              </a:r>
              <a:endParaRPr lang="en-US" sz="3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830568" y="1069848"/>
              <a:ext cx="2057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Interfaz Intuitiva</a:t>
              </a:r>
              <a:endParaRPr lang="en-US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345936" y="1581912"/>
              <a:ext cx="2560320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Interfaz de fácil uso, centrada en el usuario y accesible.</a:t>
              </a:r>
              <a:endParaRPr lang="en-US" sz="14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9044814-E7FE-C445-AD61-2E0A90C60015}"/>
              </a:ext>
            </a:extLst>
          </p:cNvPr>
          <p:cNvGrpSpPr/>
          <p:nvPr/>
        </p:nvGrpSpPr>
        <p:grpSpPr>
          <a:xfrm>
            <a:off x="1709927" y="4050792"/>
            <a:ext cx="3630023" cy="2523744"/>
            <a:chOff x="384048" y="2697480"/>
            <a:chExt cx="2788920" cy="1600200"/>
          </a:xfrm>
        </p:grpSpPr>
        <p:sp>
          <p:nvSpPr>
            <p:cNvPr id="20" name="Shape 18"/>
            <p:cNvSpPr/>
            <p:nvPr/>
          </p:nvSpPr>
          <p:spPr>
            <a:xfrm>
              <a:off x="384048" y="2697480"/>
              <a:ext cx="2788920" cy="160020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21" name="Shape 19"/>
            <p:cNvSpPr/>
            <p:nvPr/>
          </p:nvSpPr>
          <p:spPr>
            <a:xfrm>
              <a:off x="384048" y="2697480"/>
              <a:ext cx="2788920" cy="54864"/>
            </a:xfrm>
            <a:prstGeom prst="rect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22" name="Text 20"/>
            <p:cNvSpPr/>
            <p:nvPr/>
          </p:nvSpPr>
          <p:spPr>
            <a:xfrm>
              <a:off x="493776" y="2807208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🏘️</a:t>
              </a:r>
              <a:endParaRPr lang="en-US" sz="3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978408" y="2807208"/>
              <a:ext cx="2057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Foco Comunitario</a:t>
              </a:r>
              <a:endParaRPr lang="en-US" sz="2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93776" y="3319272"/>
              <a:ext cx="2560320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Centrada en el uso de barrios y comunidades, pero con arquitectura escalable.</a:t>
              </a:r>
              <a:endParaRPr lang="en-US" sz="1600" dirty="0"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0647BEDA-BDCC-A5E0-3953-0445722BE621}"/>
              </a:ext>
            </a:extLst>
          </p:cNvPr>
          <p:cNvGrpSpPr/>
          <p:nvPr/>
        </p:nvGrpSpPr>
        <p:grpSpPr>
          <a:xfrm>
            <a:off x="6959745" y="4041439"/>
            <a:ext cx="3630023" cy="2523744"/>
            <a:chOff x="3310128" y="2697480"/>
            <a:chExt cx="2788920" cy="1600200"/>
          </a:xfrm>
        </p:grpSpPr>
        <p:sp>
          <p:nvSpPr>
            <p:cNvPr id="25" name="Shape 23"/>
            <p:cNvSpPr/>
            <p:nvPr/>
          </p:nvSpPr>
          <p:spPr>
            <a:xfrm>
              <a:off x="3310128" y="2697480"/>
              <a:ext cx="2788920" cy="160020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4400"/>
            </a:p>
          </p:txBody>
        </p:sp>
        <p:sp>
          <p:nvSpPr>
            <p:cNvPr id="26" name="Shape 24"/>
            <p:cNvSpPr/>
            <p:nvPr/>
          </p:nvSpPr>
          <p:spPr>
            <a:xfrm>
              <a:off x="3310128" y="2697480"/>
              <a:ext cx="2788920" cy="54864"/>
            </a:xfrm>
            <a:prstGeom prst="rect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27" name="Text 25"/>
            <p:cNvSpPr/>
            <p:nvPr/>
          </p:nvSpPr>
          <p:spPr>
            <a:xfrm>
              <a:off x="3419856" y="2807208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🎛️</a:t>
              </a:r>
              <a:endParaRPr lang="en-US" sz="3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3904488" y="2807208"/>
              <a:ext cx="2057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Personalización</a:t>
              </a:r>
              <a:endParaRPr lang="en-US" sz="2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3419856" y="3319272"/>
              <a:ext cx="2560320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Filtros de personalización por barrio y categoría para el usuario.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 Cascada — Fases Secuenciales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877824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E50D4C5F-398C-D95D-96C4-BDDF0355BC96}"/>
              </a:ext>
            </a:extLst>
          </p:cNvPr>
          <p:cNvGrpSpPr/>
          <p:nvPr/>
        </p:nvGrpSpPr>
        <p:grpSpPr>
          <a:xfrm>
            <a:off x="384048" y="969263"/>
            <a:ext cx="8375904" cy="916217"/>
            <a:chOff x="384048" y="969264"/>
            <a:chExt cx="8375904" cy="512064"/>
          </a:xfrm>
        </p:grpSpPr>
        <p:sp>
          <p:nvSpPr>
            <p:cNvPr id="6" name="Shape 4"/>
            <p:cNvSpPr/>
            <p:nvPr/>
          </p:nvSpPr>
          <p:spPr>
            <a:xfrm>
              <a:off x="384048" y="969264"/>
              <a:ext cx="8375904" cy="512064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2400"/>
            </a:p>
          </p:txBody>
        </p:sp>
        <p:sp>
          <p:nvSpPr>
            <p:cNvPr id="7" name="Text 5"/>
            <p:cNvSpPr/>
            <p:nvPr/>
          </p:nvSpPr>
          <p:spPr>
            <a:xfrm>
              <a:off x="530352" y="987552"/>
              <a:ext cx="82296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 adoptará un enfoque basado en el Modelo en Cascada estructurado por Fases Secuenciales. Debido a las características del equipo (2 integrantes), este modelo permite optimizar el esfuerzo técnico y prescindir de roles complejos de metodologías ágiles.</a:t>
              </a:r>
              <a:endParaRPr lang="en-US" sz="14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54329B8A-DA4E-0FED-C36C-C6BA425F312D}"/>
              </a:ext>
            </a:extLst>
          </p:cNvPr>
          <p:cNvGrpSpPr/>
          <p:nvPr/>
        </p:nvGrpSpPr>
        <p:grpSpPr>
          <a:xfrm>
            <a:off x="448056" y="2720340"/>
            <a:ext cx="11567160" cy="3543300"/>
            <a:chOff x="384048" y="1600200"/>
            <a:chExt cx="8796528" cy="3337560"/>
          </a:xfrm>
        </p:grpSpPr>
        <p:sp>
          <p:nvSpPr>
            <p:cNvPr id="8" name="Shape 6"/>
            <p:cNvSpPr/>
            <p:nvPr/>
          </p:nvSpPr>
          <p:spPr>
            <a:xfrm>
              <a:off x="384048" y="1600200"/>
              <a:ext cx="2852928" cy="33375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9" name="Shape 7"/>
            <p:cNvSpPr/>
            <p:nvPr/>
          </p:nvSpPr>
          <p:spPr>
            <a:xfrm>
              <a:off x="384048" y="1600200"/>
              <a:ext cx="2852928" cy="64008"/>
            </a:xfrm>
            <a:prstGeom prst="rect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10" name="Shape 8"/>
            <p:cNvSpPr/>
            <p:nvPr/>
          </p:nvSpPr>
          <p:spPr>
            <a:xfrm>
              <a:off x="493776" y="1728216"/>
              <a:ext cx="749808" cy="219456"/>
            </a:xfrm>
            <a:prstGeom prst="rect">
              <a:avLst/>
            </a:prstGeom>
            <a:solidFill>
              <a:srgbClr val="5C6BC0">
                <a:alpha val="30000"/>
              </a:srgbClr>
            </a:solidFill>
            <a:ln w="635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11" name="Text 9"/>
            <p:cNvSpPr/>
            <p:nvPr/>
          </p:nvSpPr>
          <p:spPr>
            <a:xfrm>
              <a:off x="493776" y="1728216"/>
              <a:ext cx="74980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5C6B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FASE 1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93776" y="2020824"/>
              <a:ext cx="2633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Definición y Fundaciones</a:t>
              </a:r>
              <a:endParaRPr lang="en-US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93776" y="2368296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C6B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Semanas 1 — 4</a:t>
              </a:r>
              <a:endParaRPr lang="en-US" sz="12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93776" y="2606040"/>
              <a:ext cx="2633472" cy="10973"/>
            </a:xfrm>
            <a:prstGeom prst="rect">
              <a:avLst/>
            </a:prstGeom>
            <a:solidFill>
              <a:srgbClr val="2A2F5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15" name="Shape 13"/>
            <p:cNvSpPr/>
            <p:nvPr/>
          </p:nvSpPr>
          <p:spPr>
            <a:xfrm>
              <a:off x="512064" y="2734056"/>
              <a:ext cx="64008" cy="64008"/>
            </a:xfrm>
            <a:prstGeom prst="ellipse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16" name="Text 14"/>
            <p:cNvSpPr/>
            <p:nvPr/>
          </p:nvSpPr>
          <p:spPr>
            <a:xfrm>
              <a:off x="621792" y="2679192"/>
              <a:ext cx="250545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S1-2: Levantamiento de requerimientos y configuración del stack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12064" y="3081528"/>
              <a:ext cx="64008" cy="64008"/>
            </a:xfrm>
            <a:prstGeom prst="ellipse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18" name="Text 16"/>
            <p:cNvSpPr/>
            <p:nvPr/>
          </p:nvSpPr>
          <p:spPr>
            <a:xfrm>
              <a:off x="621792" y="2957760"/>
              <a:ext cx="250545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S2-3: Diseño de arquitectura y modelamiento de BD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12064" y="3429000"/>
              <a:ext cx="64008" cy="64008"/>
            </a:xfrm>
            <a:prstGeom prst="ellipse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20" name="Text 18"/>
            <p:cNvSpPr/>
            <p:nvPr/>
          </p:nvSpPr>
          <p:spPr>
            <a:xfrm>
              <a:off x="621792" y="3297327"/>
              <a:ext cx="250545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S3-4: Autenticación, identidad y estructura de navegación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346704" y="1600200"/>
              <a:ext cx="2852928" cy="33375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22" name="Shape 20"/>
            <p:cNvSpPr/>
            <p:nvPr/>
          </p:nvSpPr>
          <p:spPr>
            <a:xfrm>
              <a:off x="3355848" y="1600200"/>
              <a:ext cx="2852928" cy="64008"/>
            </a:xfrm>
            <a:prstGeom prst="rect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23" name="Shape 21"/>
            <p:cNvSpPr/>
            <p:nvPr/>
          </p:nvSpPr>
          <p:spPr>
            <a:xfrm>
              <a:off x="3465576" y="1728216"/>
              <a:ext cx="749808" cy="219456"/>
            </a:xfrm>
            <a:prstGeom prst="rect">
              <a:avLst/>
            </a:prstGeom>
            <a:solidFill>
              <a:srgbClr val="3ECF8E">
                <a:alpha val="30000"/>
              </a:srgbClr>
            </a:solidFill>
            <a:ln w="635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24" name="Text 22"/>
            <p:cNvSpPr/>
            <p:nvPr/>
          </p:nvSpPr>
          <p:spPr>
            <a:xfrm>
              <a:off x="3465576" y="1728216"/>
              <a:ext cx="74980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3ECF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FASE 2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465576" y="2020824"/>
              <a:ext cx="2633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Desarrollo, Integración y Validación</a:t>
              </a:r>
              <a:endParaRPr lang="en-US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465576" y="2368296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ECF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Semanas 5 — 15</a:t>
              </a:r>
              <a:endParaRPr lang="en-US" sz="12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465576" y="2606040"/>
              <a:ext cx="2633472" cy="10973"/>
            </a:xfrm>
            <a:prstGeom prst="rect">
              <a:avLst/>
            </a:prstGeom>
            <a:solidFill>
              <a:srgbClr val="2A2F5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28" name="Shape 26"/>
            <p:cNvSpPr/>
            <p:nvPr/>
          </p:nvSpPr>
          <p:spPr>
            <a:xfrm>
              <a:off x="3483864" y="2734056"/>
              <a:ext cx="64008" cy="64008"/>
            </a:xfrm>
            <a:prstGeom prst="ellipse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29" name="Text 27"/>
            <p:cNvSpPr/>
            <p:nvPr/>
          </p:nvSpPr>
          <p:spPr>
            <a:xfrm>
              <a:off x="3593592" y="2610288"/>
              <a:ext cx="250545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S5-8: Módulo de Alertas en Tiempo Real</a:t>
              </a:r>
              <a:endParaRPr lang="en-US" sz="11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483864" y="3081528"/>
              <a:ext cx="64008" cy="64008"/>
            </a:xfrm>
            <a:prstGeom prst="ellipse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31" name="Text 29"/>
            <p:cNvSpPr/>
            <p:nvPr/>
          </p:nvSpPr>
          <p:spPr>
            <a:xfrm>
              <a:off x="3593592" y="2957760"/>
              <a:ext cx="250545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S7-10: Módulo de Eventos Comunitarios</a:t>
              </a:r>
              <a:endParaRPr lang="en-US" sz="11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483864" y="3429000"/>
              <a:ext cx="64008" cy="64008"/>
            </a:xfrm>
            <a:prstGeom prst="ellipse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33" name="Text 31"/>
            <p:cNvSpPr/>
            <p:nvPr/>
          </p:nvSpPr>
          <p:spPr>
            <a:xfrm>
              <a:off x="3593592" y="3305232"/>
              <a:ext cx="250545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S9-12: Módulo de Mercado Local</a:t>
              </a:r>
              <a:endParaRPr lang="en-US" sz="11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3483864" y="3776472"/>
              <a:ext cx="64008" cy="64008"/>
            </a:xfrm>
            <a:prstGeom prst="ellipse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35" name="Text 33"/>
            <p:cNvSpPr/>
            <p:nvPr/>
          </p:nvSpPr>
          <p:spPr>
            <a:xfrm>
              <a:off x="3593592" y="3652705"/>
              <a:ext cx="250545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S11-13: Módulo de Perfil de Usuario</a:t>
              </a:r>
              <a:endParaRPr lang="en-US" sz="11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3483864" y="4123944"/>
              <a:ext cx="64008" cy="64008"/>
            </a:xfrm>
            <a:prstGeom prst="ellipse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37" name="Text 35"/>
            <p:cNvSpPr/>
            <p:nvPr/>
          </p:nvSpPr>
          <p:spPr>
            <a:xfrm>
              <a:off x="3593592" y="3995928"/>
              <a:ext cx="250545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S5-13: Integración de APIs externas (Mapas)</a:t>
              </a:r>
              <a:endParaRPr lang="en-US" sz="11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3483864" y="4471416"/>
              <a:ext cx="64008" cy="64008"/>
            </a:xfrm>
            <a:prstGeom prst="ellipse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39" name="Text 37"/>
            <p:cNvSpPr/>
            <p:nvPr/>
          </p:nvSpPr>
          <p:spPr>
            <a:xfrm>
              <a:off x="3579489" y="4350716"/>
              <a:ext cx="250545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S12-15: Pruebas, corrección y documentación</a:t>
              </a:r>
              <a:endParaRPr lang="en-US" sz="11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6327648" y="1600200"/>
              <a:ext cx="2852928" cy="33375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41" name="Shape 39"/>
            <p:cNvSpPr/>
            <p:nvPr/>
          </p:nvSpPr>
          <p:spPr>
            <a:xfrm>
              <a:off x="6327648" y="1600200"/>
              <a:ext cx="2852928" cy="64008"/>
            </a:xfrm>
            <a:prstGeom prst="rect">
              <a:avLst/>
            </a:prstGeom>
            <a:solidFill>
              <a:srgbClr val="8892B0"/>
            </a:solidFill>
            <a:ln w="12700">
              <a:solidFill>
                <a:srgbClr val="8892B0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42" name="Shape 40"/>
            <p:cNvSpPr/>
            <p:nvPr/>
          </p:nvSpPr>
          <p:spPr>
            <a:xfrm>
              <a:off x="6437376" y="1728216"/>
              <a:ext cx="749808" cy="219456"/>
            </a:xfrm>
            <a:prstGeom prst="rect">
              <a:avLst/>
            </a:prstGeom>
            <a:solidFill>
              <a:srgbClr val="8892B0">
                <a:alpha val="30000"/>
              </a:srgbClr>
            </a:solidFill>
            <a:ln w="6350">
              <a:solidFill>
                <a:srgbClr val="8892B0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43" name="Text 41"/>
            <p:cNvSpPr/>
            <p:nvPr/>
          </p:nvSpPr>
          <p:spPr>
            <a:xfrm>
              <a:off x="6437376" y="1728216"/>
              <a:ext cx="74980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FASE 3</a:t>
              </a:r>
              <a:endParaRPr lang="en-US" sz="11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437376" y="2020824"/>
              <a:ext cx="2633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Cierre y Presentación Formal</a:t>
              </a:r>
              <a:endParaRPr lang="en-US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6437376" y="2368296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Semanas 16 — 18</a:t>
              </a:r>
              <a:endParaRPr lang="en-US" sz="12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6437376" y="2606040"/>
              <a:ext cx="2633472" cy="10973"/>
            </a:xfrm>
            <a:prstGeom prst="rect">
              <a:avLst/>
            </a:prstGeom>
            <a:solidFill>
              <a:srgbClr val="2A2F5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47" name="Shape 45"/>
            <p:cNvSpPr/>
            <p:nvPr/>
          </p:nvSpPr>
          <p:spPr>
            <a:xfrm>
              <a:off x="6455664" y="2734056"/>
              <a:ext cx="64008" cy="64008"/>
            </a:xfrm>
            <a:prstGeom prst="ellipse">
              <a:avLst/>
            </a:prstGeom>
            <a:solidFill>
              <a:srgbClr val="8892B0"/>
            </a:solidFill>
            <a:ln w="12700">
              <a:solidFill>
                <a:srgbClr val="8892B0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48" name="Text 46"/>
            <p:cNvSpPr/>
            <p:nvPr/>
          </p:nvSpPr>
          <p:spPr>
            <a:xfrm>
              <a:off x="6565392" y="2599815"/>
              <a:ext cx="250545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S16-17: Preparación del material y presentación final</a:t>
              </a:r>
              <a:endParaRPr lang="en-US" sz="11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6455664" y="3081528"/>
              <a:ext cx="64008" cy="64008"/>
            </a:xfrm>
            <a:prstGeom prst="ellipse">
              <a:avLst/>
            </a:prstGeom>
            <a:solidFill>
              <a:srgbClr val="8892B0"/>
            </a:solidFill>
            <a:ln w="12700">
              <a:solidFill>
                <a:srgbClr val="8892B0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50" name="Text 48"/>
            <p:cNvSpPr/>
            <p:nvPr/>
          </p:nvSpPr>
          <p:spPr>
            <a:xfrm>
              <a:off x="6565392" y="2945665"/>
              <a:ext cx="250545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S17-18: Entrega formal ante comisión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 — 18 Semanas de Desarrollo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8375904" cy="3877056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84048" y="987552"/>
            <a:ext cx="8375904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2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</p:txBody>
      </p:sp>
      <p:pic>
        <p:nvPicPr>
          <p:cNvPr id="101" name="Image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87552"/>
            <a:ext cx="112600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6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Aplicación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670560"/>
            <a:ext cx="1146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— Red Social Vecinal Multiplataforma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800" y="1097280"/>
            <a:ext cx="11582400" cy="1889760"/>
          </a:xfrm>
          <a:prstGeom prst="rect">
            <a:avLst/>
          </a:prstGeom>
          <a:solidFill>
            <a:srgbClr val="312E81">
              <a:alpha val="75000"/>
            </a:srgbClr>
          </a:solidFill>
          <a:ln w="15240">
            <a:solidFill>
              <a:srgbClr val="818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720" y="1121664"/>
            <a:ext cx="11338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CLIENTE — Flutter (Web · Android · iOS)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524000"/>
            <a:ext cx="2048256" cy="755904"/>
          </a:xfrm>
          <a:prstGeom prst="rect">
            <a:avLst/>
          </a:prstGeom>
          <a:solidFill>
            <a:srgbClr val="4C1D95">
              <a:alpha val="90000"/>
            </a:srgbClr>
          </a:solidFill>
          <a:ln w="1016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6720" y="1524000"/>
            <a:ext cx="20482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48128" y="1524000"/>
            <a:ext cx="2048256" cy="755904"/>
          </a:xfrm>
          <a:prstGeom prst="rect">
            <a:avLst/>
          </a:prstGeom>
          <a:solidFill>
            <a:srgbClr val="4C1D95">
              <a:alpha val="90000"/>
            </a:srgbClr>
          </a:solidFill>
          <a:ln w="1016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48128" y="1524000"/>
            <a:ext cx="20482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9536" y="1524000"/>
            <a:ext cx="2048256" cy="755904"/>
          </a:xfrm>
          <a:prstGeom prst="rect">
            <a:avLst/>
          </a:prstGeom>
          <a:solidFill>
            <a:srgbClr val="4C1D95">
              <a:alpha val="90000"/>
            </a:srgbClr>
          </a:solidFill>
          <a:ln w="1016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9536" y="1524000"/>
            <a:ext cx="20482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90944" y="1524000"/>
            <a:ext cx="2048256" cy="755904"/>
          </a:xfrm>
          <a:prstGeom prst="rect">
            <a:avLst/>
          </a:prstGeom>
          <a:solidFill>
            <a:srgbClr val="4C1D95">
              <a:alpha val="90000"/>
            </a:srgbClr>
          </a:solidFill>
          <a:ln w="1016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90944" y="1524000"/>
            <a:ext cx="20482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912352" y="1524000"/>
            <a:ext cx="2511552" cy="755904"/>
          </a:xfrm>
          <a:prstGeom prst="rect">
            <a:avLst/>
          </a:prstGeom>
          <a:solidFill>
            <a:srgbClr val="4C1D95">
              <a:alpha val="90000"/>
            </a:srgbClr>
          </a:solidFill>
          <a:ln w="1016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912352" y="1524000"/>
            <a:ext cx="251155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6720" y="2316480"/>
            <a:ext cx="10997184" cy="512064"/>
          </a:xfrm>
          <a:prstGeom prst="rect">
            <a:avLst/>
          </a:prstGeom>
          <a:solidFill>
            <a:srgbClr val="3B0764">
              <a:alpha val="80000"/>
            </a:srgbClr>
          </a:solidFill>
          <a:ln w="635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6720" y="2316480"/>
            <a:ext cx="11338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compartidos  ·  ReporteDetalleSheet  ·  EventoDetalleSheet  ·  MercadoDetalleSheet  ·  PolarisToast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828800" y="2828544"/>
            <a:ext cx="0" cy="2682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6000" y="2828544"/>
            <a:ext cx="0" cy="2682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363200" y="2828544"/>
            <a:ext cx="0" cy="2682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04800" y="3121152"/>
            <a:ext cx="11582400" cy="1438656"/>
          </a:xfrm>
          <a:prstGeom prst="rect">
            <a:avLst/>
          </a:prstGeom>
          <a:solidFill>
            <a:srgbClr val="134E4A">
              <a:alpha val="80000"/>
            </a:srgbClr>
          </a:solidFill>
          <a:ln w="1524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6720" y="3145536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EXTERNOS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24256" y="3486912"/>
            <a:ext cx="2560320" cy="804672"/>
          </a:xfrm>
          <a:prstGeom prst="rect">
            <a:avLst/>
          </a:prstGeom>
          <a:solidFill>
            <a:srgbClr val="065F46">
              <a:alpha val="85000"/>
            </a:srgbClr>
          </a:solidFill>
          <a:ln w="1016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4256" y="348691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304032" y="3486912"/>
            <a:ext cx="2560320" cy="804672"/>
          </a:xfrm>
          <a:prstGeom prst="rect">
            <a:avLst/>
          </a:prstGeom>
          <a:solidFill>
            <a:srgbClr val="065F46">
              <a:alpha val="85000"/>
            </a:srgbClr>
          </a:solidFill>
          <a:ln w="1016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04032" y="348691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83808" y="3486912"/>
            <a:ext cx="2560320" cy="804672"/>
          </a:xfrm>
          <a:prstGeom prst="rect">
            <a:avLst/>
          </a:prstGeom>
          <a:solidFill>
            <a:srgbClr val="065F46">
              <a:alpha val="85000"/>
            </a:srgbClr>
          </a:solidFill>
          <a:ln w="1016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83808" y="348691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/ OSM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863584" y="3486912"/>
            <a:ext cx="2560320" cy="804672"/>
          </a:xfrm>
          <a:prstGeom prst="rect">
            <a:avLst/>
          </a:prstGeom>
          <a:solidFill>
            <a:srgbClr val="065F46">
              <a:alpha val="85000"/>
            </a:srgbClr>
          </a:solidFill>
          <a:ln w="1016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63584" y="348691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GeoJS.io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828800" y="4584192"/>
            <a:ext cx="0" cy="2682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096000" y="4584192"/>
            <a:ext cx="0" cy="2682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363200" y="4584192"/>
            <a:ext cx="0" cy="2682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04800" y="4876800"/>
            <a:ext cx="11582400" cy="1645920"/>
          </a:xfrm>
          <a:prstGeom prst="rect">
            <a:avLst/>
          </a:prstGeom>
          <a:solidFill>
            <a:srgbClr val="1E3A5F">
              <a:alpha val="85000"/>
            </a:srgbClr>
          </a:solidFill>
          <a:ln w="15240">
            <a:solidFill>
              <a:srgbClr val="60A5F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26720" y="4901184"/>
            <a:ext cx="11338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Supabase (PostgreSQL · Auth · Realtime · Storage)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24256" y="5266944"/>
            <a:ext cx="2560320" cy="950976"/>
          </a:xfrm>
          <a:prstGeom prst="rect">
            <a:avLst/>
          </a:prstGeom>
          <a:solidFill>
            <a:srgbClr val="1E3A8A">
              <a:alpha val="90000"/>
            </a:srgbClr>
          </a:solidFill>
          <a:ln w="10160">
            <a:solidFill>
              <a:srgbClr val="60A5FA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4256" y="5266944"/>
            <a:ext cx="2560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JWT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Security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304032" y="5266944"/>
            <a:ext cx="2560320" cy="950976"/>
          </a:xfrm>
          <a:prstGeom prst="rect">
            <a:avLst/>
          </a:prstGeom>
          <a:solidFill>
            <a:srgbClr val="1E3A8A">
              <a:alpha val="90000"/>
            </a:srgbClr>
          </a:solidFill>
          <a:ln w="10160">
            <a:solidFill>
              <a:srgbClr val="60A5FA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304032" y="5266944"/>
            <a:ext cx="2560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+ Políticas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083808" y="5266944"/>
            <a:ext cx="2560320" cy="950976"/>
          </a:xfrm>
          <a:prstGeom prst="rect">
            <a:avLst/>
          </a:prstGeom>
          <a:solidFill>
            <a:srgbClr val="1E3A8A">
              <a:alpha val="90000"/>
            </a:srgbClr>
          </a:solidFill>
          <a:ln w="10160">
            <a:solidFill>
              <a:srgbClr val="60A5FA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083808" y="5266944"/>
            <a:ext cx="2560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863584" y="5266944"/>
            <a:ext cx="2560320" cy="950976"/>
          </a:xfrm>
          <a:prstGeom prst="rect">
            <a:avLst/>
          </a:prstGeom>
          <a:solidFill>
            <a:srgbClr val="1E3A8A">
              <a:alpha val="90000"/>
            </a:srgbClr>
          </a:solidFill>
          <a:ln w="10160">
            <a:solidFill>
              <a:srgbClr val="60A5FA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863584" y="5266944"/>
            <a:ext cx="2560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/ Avatars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04800" y="6096000"/>
            <a:ext cx="11582400" cy="426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04800" y="6096000"/>
            <a:ext cx="11582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resiliente: GPS → última posición conocida → fallback por IP (GeoJS)  ·  geolocator (MIT)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320040"/>
            <a:ext cx="1572768" cy="416052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287000" y="320040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60152" y="3200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auth.users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332720" y="610362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42448" y="55778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30661" y="55778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458200" y="256032"/>
            <a:ext cx="1572768" cy="1307592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458200" y="256032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31352" y="25603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perfiles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503920" y="546354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13648" y="49377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401861" y="49377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58200" y="67208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503920" y="72466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13648" y="67208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401861" y="67208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03920" y="90297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13648" y="85039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avatar_url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01861" y="85039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58200" y="102870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503920" y="108127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13648" y="102870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01861" y="102870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03920" y="125958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613648" y="120700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401861" y="120700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58200" y="1385316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503920" y="143789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613648" y="138531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401861" y="138531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983480" y="256032"/>
            <a:ext cx="1572768" cy="2020824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983480" y="256032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56632" y="25603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reportes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029200" y="546354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138928" y="49377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27141" y="49377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983480" y="67208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029200" y="724662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138928" y="67208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creador_id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27141" y="67208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029200" y="90297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138928" y="85039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27141" y="85039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983480" y="102870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029200" y="108127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138928" y="102870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927141" y="102870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029200" y="125958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138928" y="120700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latitud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927141" y="120700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float8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983480" y="1385316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029200" y="143789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138928" y="138531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927141" y="138531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float8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029200" y="161620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138928" y="156362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927141" y="156362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983480" y="174193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029200" y="179451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138928" y="174193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927141" y="174193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029200" y="197281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138928" y="192024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foto_url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927141" y="192024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983480" y="2098548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029200" y="215112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5138928" y="209854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direccion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5927141" y="209854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0" name="Grupo 299">
            <a:extLst>
              <a:ext uri="{FF2B5EF4-FFF2-40B4-BE49-F238E27FC236}">
                <a16:creationId xmlns:a16="http://schemas.microsoft.com/office/drawing/2014/main" id="{04F88EE3-3D82-F3BD-7D16-F121B4213485}"/>
              </a:ext>
            </a:extLst>
          </p:cNvPr>
          <p:cNvGrpSpPr/>
          <p:nvPr/>
        </p:nvGrpSpPr>
        <p:grpSpPr>
          <a:xfrm>
            <a:off x="2926080" y="256032"/>
            <a:ext cx="1572768" cy="1129284"/>
            <a:chOff x="2926080" y="256032"/>
            <a:chExt cx="1572768" cy="1129284"/>
          </a:xfrm>
        </p:grpSpPr>
        <p:sp>
          <p:nvSpPr>
            <p:cNvPr id="70" name="Shape 68"/>
            <p:cNvSpPr/>
            <p:nvPr/>
          </p:nvSpPr>
          <p:spPr>
            <a:xfrm>
              <a:off x="2926080" y="256032"/>
              <a:ext cx="1572768" cy="1129284"/>
            </a:xfrm>
            <a:prstGeom prst="rect">
              <a:avLst/>
            </a:prstGeom>
            <a:solidFill>
              <a:srgbClr val="1C2333"/>
            </a:solidFill>
            <a:ln w="1270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Shape 69"/>
            <p:cNvSpPr/>
            <p:nvPr/>
          </p:nvSpPr>
          <p:spPr>
            <a:xfrm>
              <a:off x="2926080" y="256032"/>
              <a:ext cx="1572768" cy="237744"/>
            </a:xfrm>
            <a:prstGeom prst="rect">
              <a:avLst/>
            </a:prstGeom>
            <a:solidFill>
              <a:srgbClr val="1E3A5F"/>
            </a:solidFill>
            <a:ln w="635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Text 70"/>
            <p:cNvSpPr/>
            <p:nvPr/>
          </p:nvSpPr>
          <p:spPr>
            <a:xfrm>
              <a:off x="2999232" y="256032"/>
              <a:ext cx="148132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reporte_reacciones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Shape 71"/>
            <p:cNvSpPr/>
            <p:nvPr/>
          </p:nvSpPr>
          <p:spPr>
            <a:xfrm>
              <a:off x="2971800" y="546354"/>
              <a:ext cx="73152" cy="73152"/>
            </a:xfrm>
            <a:prstGeom prst="ellipse">
              <a:avLst/>
            </a:prstGeom>
            <a:solidFill>
              <a:srgbClr val="F6C90E"/>
            </a:solidFill>
            <a:ln w="12700">
              <a:solidFill>
                <a:srgbClr val="F6C90E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Text 72"/>
            <p:cNvSpPr/>
            <p:nvPr/>
          </p:nvSpPr>
          <p:spPr>
            <a:xfrm>
              <a:off x="3081528" y="493776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6C90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 73"/>
            <p:cNvSpPr/>
            <p:nvPr/>
          </p:nvSpPr>
          <p:spPr>
            <a:xfrm>
              <a:off x="3869741" y="493776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4E9F6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uuid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Shape 74"/>
            <p:cNvSpPr/>
            <p:nvPr/>
          </p:nvSpPr>
          <p:spPr>
            <a:xfrm>
              <a:off x="2926080" y="672084"/>
              <a:ext cx="1572768" cy="178308"/>
            </a:xfrm>
            <a:prstGeom prst="rect">
              <a:avLst/>
            </a:prstGeom>
            <a:solidFill>
              <a:srgbClr val="17202E"/>
            </a:solidFill>
            <a:ln w="381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Shape 75"/>
            <p:cNvSpPr/>
            <p:nvPr/>
          </p:nvSpPr>
          <p:spPr>
            <a:xfrm>
              <a:off x="2971800" y="724662"/>
              <a:ext cx="73152" cy="73152"/>
            </a:xfrm>
            <a:prstGeom prst="ellipse">
              <a:avLst/>
            </a:prstGeom>
            <a:solidFill>
              <a:srgbClr val="6EB5FF"/>
            </a:solidFill>
            <a:ln w="12700">
              <a:solidFill>
                <a:srgbClr val="6EB5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Text 76"/>
            <p:cNvSpPr/>
            <p:nvPr/>
          </p:nvSpPr>
          <p:spPr>
            <a:xfrm>
              <a:off x="3081528" y="672084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0" i="0" u="none" strike="noStrike" kern="1200" cap="none" spc="0" normalizeH="0" baseline="0" noProof="0" dirty="0">
                  <a:ln>
                    <a:noFill/>
                  </a:ln>
                  <a:solidFill>
                    <a:srgbClr val="6EB5FF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reporte_id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Text 77"/>
            <p:cNvSpPr/>
            <p:nvPr/>
          </p:nvSpPr>
          <p:spPr>
            <a:xfrm>
              <a:off x="3869741" y="672084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4E9F6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uuid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Shape 78"/>
            <p:cNvSpPr/>
            <p:nvPr/>
          </p:nvSpPr>
          <p:spPr>
            <a:xfrm>
              <a:off x="2971800" y="902970"/>
              <a:ext cx="73152" cy="73152"/>
            </a:xfrm>
            <a:prstGeom prst="ellipse">
              <a:avLst/>
            </a:prstGeom>
            <a:solidFill>
              <a:srgbClr val="6EB5FF"/>
            </a:solidFill>
            <a:ln w="12700">
              <a:solidFill>
                <a:srgbClr val="6EB5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Text 79"/>
            <p:cNvSpPr/>
            <p:nvPr/>
          </p:nvSpPr>
          <p:spPr>
            <a:xfrm>
              <a:off x="3081528" y="850392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0" i="0" u="none" strike="noStrike" kern="1200" cap="none" spc="0" normalizeH="0" baseline="0" noProof="0" dirty="0">
                  <a:ln>
                    <a:noFill/>
                  </a:ln>
                  <a:solidFill>
                    <a:srgbClr val="6EB5FF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usuario_id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Text 80"/>
            <p:cNvSpPr/>
            <p:nvPr/>
          </p:nvSpPr>
          <p:spPr>
            <a:xfrm>
              <a:off x="3869741" y="850392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4E9F6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uuid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Shape 81"/>
            <p:cNvSpPr/>
            <p:nvPr/>
          </p:nvSpPr>
          <p:spPr>
            <a:xfrm>
              <a:off x="2926080" y="1028700"/>
              <a:ext cx="1572768" cy="178308"/>
            </a:xfrm>
            <a:prstGeom prst="rect">
              <a:avLst/>
            </a:prstGeom>
            <a:solidFill>
              <a:srgbClr val="17202E"/>
            </a:solidFill>
            <a:ln w="381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Shape 82"/>
            <p:cNvSpPr/>
            <p:nvPr/>
          </p:nvSpPr>
          <p:spPr>
            <a:xfrm>
              <a:off x="2971800" y="1081278"/>
              <a:ext cx="73152" cy="73152"/>
            </a:xfrm>
            <a:prstGeom prst="ellipse">
              <a:avLst/>
            </a:prstGeom>
            <a:solidFill>
              <a:srgbClr val="2A3A55"/>
            </a:solidFill>
            <a:ln w="1270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Text 83"/>
            <p:cNvSpPr/>
            <p:nvPr/>
          </p:nvSpPr>
          <p:spPr>
            <a:xfrm>
              <a:off x="3081528" y="1028700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0" i="0" u="none" strike="noStrike" kern="1200" cap="none" spc="0" normalizeH="0" baseline="0" noProof="0" dirty="0">
                  <a:ln>
                    <a:noFill/>
                  </a:ln>
                  <a:solidFill>
                    <a:srgbClr val="A8B5C8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tipo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84"/>
            <p:cNvSpPr/>
            <p:nvPr/>
          </p:nvSpPr>
          <p:spPr>
            <a:xfrm>
              <a:off x="3869741" y="1028700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4E9F6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text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Shape 85"/>
            <p:cNvSpPr/>
            <p:nvPr/>
          </p:nvSpPr>
          <p:spPr>
            <a:xfrm>
              <a:off x="2971800" y="1259586"/>
              <a:ext cx="73152" cy="73152"/>
            </a:xfrm>
            <a:prstGeom prst="ellipse">
              <a:avLst/>
            </a:prstGeom>
            <a:solidFill>
              <a:srgbClr val="2A3A55"/>
            </a:solidFill>
            <a:ln w="1270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Text 86"/>
            <p:cNvSpPr/>
            <p:nvPr/>
          </p:nvSpPr>
          <p:spPr>
            <a:xfrm>
              <a:off x="3081528" y="1207008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0" i="0" u="none" strike="noStrike" kern="1200" cap="none" spc="0" normalizeH="0" baseline="0" noProof="0" dirty="0">
                  <a:ln>
                    <a:noFill/>
                  </a:ln>
                  <a:solidFill>
                    <a:srgbClr val="A8B5C8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creado_en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Text 87"/>
            <p:cNvSpPr/>
            <p:nvPr/>
          </p:nvSpPr>
          <p:spPr>
            <a:xfrm>
              <a:off x="3869741" y="1207008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4E9F6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timestamptz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0" name="Shape 88"/>
          <p:cNvSpPr/>
          <p:nvPr/>
        </p:nvSpPr>
        <p:spPr>
          <a:xfrm>
            <a:off x="2926080" y="1600200"/>
            <a:ext cx="1572768" cy="1129284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2926080" y="1600200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2999232" y="16002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reporte_comentarios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2971800" y="1890522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3081528" y="183794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3869741" y="183794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2926080" y="201625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2971800" y="2068830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3081528" y="201625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reporte_id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3869741" y="201625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2971800" y="2247138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3081528" y="219456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autor_id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3869741" y="219456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2926080" y="2372868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2971800" y="242544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3081528" y="237286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3869741" y="237286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2971800" y="260375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3081528" y="255117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3869741" y="255117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4983480" y="2542032"/>
            <a:ext cx="1572768" cy="2377440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4983480" y="2542032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5056632" y="254203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5029200" y="2832354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5138928" y="277977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5927141" y="277977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4983480" y="295808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5029200" y="3010662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5138928" y="295808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creador_id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5927141" y="295808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5029200" y="318897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5138928" y="313639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Text 120"/>
          <p:cNvSpPr/>
          <p:nvPr/>
        </p:nvSpPr>
        <p:spPr>
          <a:xfrm>
            <a:off x="5927141" y="313639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Shape 121"/>
          <p:cNvSpPr/>
          <p:nvPr/>
        </p:nvSpPr>
        <p:spPr>
          <a:xfrm>
            <a:off x="4983480" y="331470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5029200" y="336727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5138928" y="331470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5927141" y="331470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5029200" y="354558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Text 126"/>
          <p:cNvSpPr/>
          <p:nvPr/>
        </p:nvSpPr>
        <p:spPr>
          <a:xfrm>
            <a:off x="5138928" y="349300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fecha_evento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5927141" y="349300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4983480" y="3671316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5029200" y="372389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5138928" y="367131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ubicacion_texto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5927141" y="367131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5029200" y="390220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5138928" y="384962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5927141" y="384962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Shape 135"/>
          <p:cNvSpPr/>
          <p:nvPr/>
        </p:nvSpPr>
        <p:spPr>
          <a:xfrm>
            <a:off x="4983480" y="402793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5029200" y="408051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Text 137"/>
          <p:cNvSpPr/>
          <p:nvPr/>
        </p:nvSpPr>
        <p:spPr>
          <a:xfrm>
            <a:off x="5138928" y="402793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Text 138"/>
          <p:cNvSpPr/>
          <p:nvPr/>
        </p:nvSpPr>
        <p:spPr>
          <a:xfrm>
            <a:off x="5927141" y="402793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5029200" y="425881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Text 140"/>
          <p:cNvSpPr/>
          <p:nvPr/>
        </p:nvSpPr>
        <p:spPr>
          <a:xfrm>
            <a:off x="5138928" y="420624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latitud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Text 141"/>
          <p:cNvSpPr/>
          <p:nvPr/>
        </p:nvSpPr>
        <p:spPr>
          <a:xfrm>
            <a:off x="5927141" y="420624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float8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Shape 142"/>
          <p:cNvSpPr/>
          <p:nvPr/>
        </p:nvSpPr>
        <p:spPr>
          <a:xfrm>
            <a:off x="4983480" y="4384548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Shape 143"/>
          <p:cNvSpPr/>
          <p:nvPr/>
        </p:nvSpPr>
        <p:spPr>
          <a:xfrm>
            <a:off x="5029200" y="443712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Text 144"/>
          <p:cNvSpPr/>
          <p:nvPr/>
        </p:nvSpPr>
        <p:spPr>
          <a:xfrm>
            <a:off x="5138928" y="438454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Text 145"/>
          <p:cNvSpPr/>
          <p:nvPr/>
        </p:nvSpPr>
        <p:spPr>
          <a:xfrm>
            <a:off x="5927141" y="438454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float8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Shape 146"/>
          <p:cNvSpPr/>
          <p:nvPr/>
        </p:nvSpPr>
        <p:spPr>
          <a:xfrm>
            <a:off x="5029200" y="461543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Text 147"/>
          <p:cNvSpPr/>
          <p:nvPr/>
        </p:nvSpPr>
        <p:spPr>
          <a:xfrm>
            <a:off x="5138928" y="456285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max_asistentes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5927141" y="456285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int4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Shape 149"/>
          <p:cNvSpPr/>
          <p:nvPr/>
        </p:nvSpPr>
        <p:spPr>
          <a:xfrm>
            <a:off x="4983480" y="474116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Shape 150"/>
          <p:cNvSpPr/>
          <p:nvPr/>
        </p:nvSpPr>
        <p:spPr>
          <a:xfrm>
            <a:off x="5029200" y="479374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5138928" y="474116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imagen_url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5927141" y="474116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Shape 153"/>
          <p:cNvSpPr/>
          <p:nvPr/>
        </p:nvSpPr>
        <p:spPr>
          <a:xfrm>
            <a:off x="2926080" y="2788920"/>
            <a:ext cx="1572768" cy="950976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Shape 154"/>
          <p:cNvSpPr/>
          <p:nvPr/>
        </p:nvSpPr>
        <p:spPr>
          <a:xfrm>
            <a:off x="2926080" y="2788920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 155"/>
          <p:cNvSpPr/>
          <p:nvPr/>
        </p:nvSpPr>
        <p:spPr>
          <a:xfrm>
            <a:off x="2999232" y="27889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evento_asistentes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Shape 156"/>
          <p:cNvSpPr/>
          <p:nvPr/>
        </p:nvSpPr>
        <p:spPr>
          <a:xfrm>
            <a:off x="2971800" y="3079242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Text 157"/>
          <p:cNvSpPr/>
          <p:nvPr/>
        </p:nvSpPr>
        <p:spPr>
          <a:xfrm>
            <a:off x="3081528" y="302666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 158"/>
          <p:cNvSpPr/>
          <p:nvPr/>
        </p:nvSpPr>
        <p:spPr>
          <a:xfrm>
            <a:off x="3869741" y="302666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1" name="Shape 159"/>
          <p:cNvSpPr/>
          <p:nvPr/>
        </p:nvSpPr>
        <p:spPr>
          <a:xfrm>
            <a:off x="2926080" y="320497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2971800" y="3257550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3" name="Text 161"/>
          <p:cNvSpPr/>
          <p:nvPr/>
        </p:nvSpPr>
        <p:spPr>
          <a:xfrm>
            <a:off x="3081528" y="320497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Text 162"/>
          <p:cNvSpPr/>
          <p:nvPr/>
        </p:nvSpPr>
        <p:spPr>
          <a:xfrm>
            <a:off x="3869741" y="320497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Shape 163"/>
          <p:cNvSpPr/>
          <p:nvPr/>
        </p:nvSpPr>
        <p:spPr>
          <a:xfrm>
            <a:off x="2971800" y="3435858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6" name="Text 164"/>
          <p:cNvSpPr/>
          <p:nvPr/>
        </p:nvSpPr>
        <p:spPr>
          <a:xfrm>
            <a:off x="3081528" y="338328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Text 165"/>
          <p:cNvSpPr/>
          <p:nvPr/>
        </p:nvSpPr>
        <p:spPr>
          <a:xfrm>
            <a:off x="3869741" y="338328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Shape 166"/>
          <p:cNvSpPr/>
          <p:nvPr/>
        </p:nvSpPr>
        <p:spPr>
          <a:xfrm>
            <a:off x="2926080" y="3561588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9" name="Shape 167"/>
          <p:cNvSpPr/>
          <p:nvPr/>
        </p:nvSpPr>
        <p:spPr>
          <a:xfrm>
            <a:off x="2971800" y="361416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0" name="Text 168"/>
          <p:cNvSpPr/>
          <p:nvPr/>
        </p:nvSpPr>
        <p:spPr>
          <a:xfrm>
            <a:off x="3081528" y="356158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Text 169"/>
          <p:cNvSpPr/>
          <p:nvPr/>
        </p:nvSpPr>
        <p:spPr>
          <a:xfrm>
            <a:off x="3869741" y="356158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Shape 170"/>
          <p:cNvSpPr/>
          <p:nvPr/>
        </p:nvSpPr>
        <p:spPr>
          <a:xfrm>
            <a:off x="2926080" y="3931920"/>
            <a:ext cx="1572768" cy="1129284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3" name="Shape 171"/>
          <p:cNvSpPr/>
          <p:nvPr/>
        </p:nvSpPr>
        <p:spPr>
          <a:xfrm>
            <a:off x="2926080" y="3931920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 172"/>
          <p:cNvSpPr/>
          <p:nvPr/>
        </p:nvSpPr>
        <p:spPr>
          <a:xfrm>
            <a:off x="2999232" y="39319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evento_comentarios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5" name="Shape 173"/>
          <p:cNvSpPr/>
          <p:nvPr/>
        </p:nvSpPr>
        <p:spPr>
          <a:xfrm>
            <a:off x="2971800" y="4222242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6" name="Text 174"/>
          <p:cNvSpPr/>
          <p:nvPr/>
        </p:nvSpPr>
        <p:spPr>
          <a:xfrm>
            <a:off x="3081528" y="416966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 175"/>
          <p:cNvSpPr/>
          <p:nvPr/>
        </p:nvSpPr>
        <p:spPr>
          <a:xfrm>
            <a:off x="3869741" y="416966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Shape 176"/>
          <p:cNvSpPr/>
          <p:nvPr/>
        </p:nvSpPr>
        <p:spPr>
          <a:xfrm>
            <a:off x="2926080" y="434797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Shape 177"/>
          <p:cNvSpPr/>
          <p:nvPr/>
        </p:nvSpPr>
        <p:spPr>
          <a:xfrm>
            <a:off x="2971800" y="4400550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Text 178"/>
          <p:cNvSpPr/>
          <p:nvPr/>
        </p:nvSpPr>
        <p:spPr>
          <a:xfrm>
            <a:off x="3081528" y="434797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1" name="Text 179"/>
          <p:cNvSpPr/>
          <p:nvPr/>
        </p:nvSpPr>
        <p:spPr>
          <a:xfrm>
            <a:off x="3869741" y="434797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Shape 180"/>
          <p:cNvSpPr/>
          <p:nvPr/>
        </p:nvSpPr>
        <p:spPr>
          <a:xfrm>
            <a:off x="2971800" y="4578858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Text 181"/>
          <p:cNvSpPr/>
          <p:nvPr/>
        </p:nvSpPr>
        <p:spPr>
          <a:xfrm>
            <a:off x="3081528" y="452628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autor_id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Text 182"/>
          <p:cNvSpPr/>
          <p:nvPr/>
        </p:nvSpPr>
        <p:spPr>
          <a:xfrm>
            <a:off x="3869741" y="452628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5" name="Shape 183"/>
          <p:cNvSpPr/>
          <p:nvPr/>
        </p:nvSpPr>
        <p:spPr>
          <a:xfrm>
            <a:off x="2926080" y="4704588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Shape 184"/>
          <p:cNvSpPr/>
          <p:nvPr/>
        </p:nvSpPr>
        <p:spPr>
          <a:xfrm>
            <a:off x="2971800" y="475716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7" name="Text 185"/>
          <p:cNvSpPr/>
          <p:nvPr/>
        </p:nvSpPr>
        <p:spPr>
          <a:xfrm>
            <a:off x="3081528" y="470458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Text 186"/>
          <p:cNvSpPr/>
          <p:nvPr/>
        </p:nvSpPr>
        <p:spPr>
          <a:xfrm>
            <a:off x="3869741" y="470458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Shape 187"/>
          <p:cNvSpPr/>
          <p:nvPr/>
        </p:nvSpPr>
        <p:spPr>
          <a:xfrm>
            <a:off x="2971800" y="493547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Text 188"/>
          <p:cNvSpPr/>
          <p:nvPr/>
        </p:nvSpPr>
        <p:spPr>
          <a:xfrm>
            <a:off x="3081528" y="488289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Text 189"/>
          <p:cNvSpPr/>
          <p:nvPr/>
        </p:nvSpPr>
        <p:spPr>
          <a:xfrm>
            <a:off x="3869741" y="488289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Shape 190"/>
          <p:cNvSpPr/>
          <p:nvPr/>
        </p:nvSpPr>
        <p:spPr>
          <a:xfrm>
            <a:off x="2926080" y="5001768"/>
            <a:ext cx="1572768" cy="1307592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Shape 191"/>
          <p:cNvSpPr/>
          <p:nvPr/>
        </p:nvSpPr>
        <p:spPr>
          <a:xfrm>
            <a:off x="2926080" y="5001768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Text 192"/>
          <p:cNvSpPr/>
          <p:nvPr/>
        </p:nvSpPr>
        <p:spPr>
          <a:xfrm>
            <a:off x="2999232" y="500176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evento_votos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Shape 193"/>
          <p:cNvSpPr/>
          <p:nvPr/>
        </p:nvSpPr>
        <p:spPr>
          <a:xfrm>
            <a:off x="2971800" y="5292090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3081528" y="523951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3869741" y="523951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Shape 196"/>
          <p:cNvSpPr/>
          <p:nvPr/>
        </p:nvSpPr>
        <p:spPr>
          <a:xfrm>
            <a:off x="2926080" y="541782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9" name="Shape 197"/>
          <p:cNvSpPr/>
          <p:nvPr/>
        </p:nvSpPr>
        <p:spPr>
          <a:xfrm>
            <a:off x="2971800" y="5470398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Text 198"/>
          <p:cNvSpPr/>
          <p:nvPr/>
        </p:nvSpPr>
        <p:spPr>
          <a:xfrm>
            <a:off x="3081528" y="541782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1" name="Text 199"/>
          <p:cNvSpPr/>
          <p:nvPr/>
        </p:nvSpPr>
        <p:spPr>
          <a:xfrm>
            <a:off x="3869741" y="541782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2" name="Shape 200"/>
          <p:cNvSpPr/>
          <p:nvPr/>
        </p:nvSpPr>
        <p:spPr>
          <a:xfrm>
            <a:off x="2971800" y="5648706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3" name="Text 201"/>
          <p:cNvSpPr/>
          <p:nvPr/>
        </p:nvSpPr>
        <p:spPr>
          <a:xfrm>
            <a:off x="3081528" y="559612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autor_id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" name="Text 202"/>
          <p:cNvSpPr/>
          <p:nvPr/>
        </p:nvSpPr>
        <p:spPr>
          <a:xfrm>
            <a:off x="3869741" y="559612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Shape 203"/>
          <p:cNvSpPr/>
          <p:nvPr/>
        </p:nvSpPr>
        <p:spPr>
          <a:xfrm>
            <a:off x="2926080" y="5774436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Shape 204"/>
          <p:cNvSpPr/>
          <p:nvPr/>
        </p:nvSpPr>
        <p:spPr>
          <a:xfrm>
            <a:off x="2971800" y="582701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Text 205"/>
          <p:cNvSpPr/>
          <p:nvPr/>
        </p:nvSpPr>
        <p:spPr>
          <a:xfrm>
            <a:off x="3081528" y="577443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Text 206"/>
          <p:cNvSpPr/>
          <p:nvPr/>
        </p:nvSpPr>
        <p:spPr>
          <a:xfrm>
            <a:off x="3869741" y="577443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" name="Shape 207"/>
          <p:cNvSpPr/>
          <p:nvPr/>
        </p:nvSpPr>
        <p:spPr>
          <a:xfrm>
            <a:off x="2971800" y="600532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Text 208"/>
          <p:cNvSpPr/>
          <p:nvPr/>
        </p:nvSpPr>
        <p:spPr>
          <a:xfrm>
            <a:off x="3081528" y="595274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opciones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" name="Text 209"/>
          <p:cNvSpPr/>
          <p:nvPr/>
        </p:nvSpPr>
        <p:spPr>
          <a:xfrm>
            <a:off x="3869741" y="595274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jsonb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2" name="Shape 210"/>
          <p:cNvSpPr/>
          <p:nvPr/>
        </p:nvSpPr>
        <p:spPr>
          <a:xfrm>
            <a:off x="2926080" y="613105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Shape 211"/>
          <p:cNvSpPr/>
          <p:nvPr/>
        </p:nvSpPr>
        <p:spPr>
          <a:xfrm>
            <a:off x="2971800" y="618363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Text 212"/>
          <p:cNvSpPr/>
          <p:nvPr/>
        </p:nvSpPr>
        <p:spPr>
          <a:xfrm>
            <a:off x="3081528" y="613105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" name="Text 213"/>
          <p:cNvSpPr/>
          <p:nvPr/>
        </p:nvSpPr>
        <p:spPr>
          <a:xfrm>
            <a:off x="3869741" y="613105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6" name="Shape 214"/>
          <p:cNvSpPr/>
          <p:nvPr/>
        </p:nvSpPr>
        <p:spPr>
          <a:xfrm>
            <a:off x="320040" y="5001768"/>
            <a:ext cx="1572768" cy="1129284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7" name="Shape 215"/>
          <p:cNvSpPr/>
          <p:nvPr/>
        </p:nvSpPr>
        <p:spPr>
          <a:xfrm>
            <a:off x="320040" y="5001768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8" name="Text 216"/>
          <p:cNvSpPr/>
          <p:nvPr/>
        </p:nvSpPr>
        <p:spPr>
          <a:xfrm>
            <a:off x="393192" y="500176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evento_voto_respuestas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Shape 217"/>
          <p:cNvSpPr/>
          <p:nvPr/>
        </p:nvSpPr>
        <p:spPr>
          <a:xfrm>
            <a:off x="365760" y="5292090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0" name="Text 218"/>
          <p:cNvSpPr/>
          <p:nvPr/>
        </p:nvSpPr>
        <p:spPr>
          <a:xfrm>
            <a:off x="475488" y="523951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Text 219"/>
          <p:cNvSpPr/>
          <p:nvPr/>
        </p:nvSpPr>
        <p:spPr>
          <a:xfrm>
            <a:off x="1263701" y="523951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2" name="Shape 220"/>
          <p:cNvSpPr/>
          <p:nvPr/>
        </p:nvSpPr>
        <p:spPr>
          <a:xfrm>
            <a:off x="320040" y="541782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3" name="Shape 221"/>
          <p:cNvSpPr/>
          <p:nvPr/>
        </p:nvSpPr>
        <p:spPr>
          <a:xfrm>
            <a:off x="365760" y="5470398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Text 222"/>
          <p:cNvSpPr/>
          <p:nvPr/>
        </p:nvSpPr>
        <p:spPr>
          <a:xfrm>
            <a:off x="475488" y="541782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voto_id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Text 223"/>
          <p:cNvSpPr/>
          <p:nvPr/>
        </p:nvSpPr>
        <p:spPr>
          <a:xfrm>
            <a:off x="1263701" y="541782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Shape 224"/>
          <p:cNvSpPr/>
          <p:nvPr/>
        </p:nvSpPr>
        <p:spPr>
          <a:xfrm>
            <a:off x="365760" y="5648706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Text 225"/>
          <p:cNvSpPr/>
          <p:nvPr/>
        </p:nvSpPr>
        <p:spPr>
          <a:xfrm>
            <a:off x="475488" y="559612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Text 226"/>
          <p:cNvSpPr/>
          <p:nvPr/>
        </p:nvSpPr>
        <p:spPr>
          <a:xfrm>
            <a:off x="1263701" y="559612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Shape 227"/>
          <p:cNvSpPr/>
          <p:nvPr/>
        </p:nvSpPr>
        <p:spPr>
          <a:xfrm>
            <a:off x="320040" y="5774436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Shape 228"/>
          <p:cNvSpPr/>
          <p:nvPr/>
        </p:nvSpPr>
        <p:spPr>
          <a:xfrm>
            <a:off x="365760" y="582701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Text 229"/>
          <p:cNvSpPr/>
          <p:nvPr/>
        </p:nvSpPr>
        <p:spPr>
          <a:xfrm>
            <a:off x="475488" y="577443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opcion_index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Text 230"/>
          <p:cNvSpPr/>
          <p:nvPr/>
        </p:nvSpPr>
        <p:spPr>
          <a:xfrm>
            <a:off x="1263701" y="577443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int4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Shape 231"/>
          <p:cNvSpPr/>
          <p:nvPr/>
        </p:nvSpPr>
        <p:spPr>
          <a:xfrm>
            <a:off x="365760" y="600532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Text 232"/>
          <p:cNvSpPr/>
          <p:nvPr/>
        </p:nvSpPr>
        <p:spPr>
          <a:xfrm>
            <a:off x="475488" y="595274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Text 233"/>
          <p:cNvSpPr/>
          <p:nvPr/>
        </p:nvSpPr>
        <p:spPr>
          <a:xfrm>
            <a:off x="1263701" y="595274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Shape 234"/>
          <p:cNvSpPr/>
          <p:nvPr/>
        </p:nvSpPr>
        <p:spPr>
          <a:xfrm>
            <a:off x="6766560" y="4114800"/>
            <a:ext cx="1572768" cy="2377440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Shape 235"/>
          <p:cNvSpPr/>
          <p:nvPr/>
        </p:nvSpPr>
        <p:spPr>
          <a:xfrm>
            <a:off x="6766560" y="4114800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Text 236"/>
          <p:cNvSpPr/>
          <p:nvPr/>
        </p:nvSpPr>
        <p:spPr>
          <a:xfrm>
            <a:off x="6839712" y="41148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mercado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Shape 237"/>
          <p:cNvSpPr/>
          <p:nvPr/>
        </p:nvSpPr>
        <p:spPr>
          <a:xfrm>
            <a:off x="6812280" y="4405122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Text 238"/>
          <p:cNvSpPr/>
          <p:nvPr/>
        </p:nvSpPr>
        <p:spPr>
          <a:xfrm>
            <a:off x="6922008" y="435254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Text 239"/>
          <p:cNvSpPr/>
          <p:nvPr/>
        </p:nvSpPr>
        <p:spPr>
          <a:xfrm>
            <a:off x="7710221" y="435254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Shape 240"/>
          <p:cNvSpPr/>
          <p:nvPr/>
        </p:nvSpPr>
        <p:spPr>
          <a:xfrm>
            <a:off x="6766560" y="453085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Shape 241"/>
          <p:cNvSpPr/>
          <p:nvPr/>
        </p:nvSpPr>
        <p:spPr>
          <a:xfrm>
            <a:off x="6812280" y="4583430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4" name="Text 242"/>
          <p:cNvSpPr/>
          <p:nvPr/>
        </p:nvSpPr>
        <p:spPr>
          <a:xfrm>
            <a:off x="6922008" y="453085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creador_id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Text 243"/>
          <p:cNvSpPr/>
          <p:nvPr/>
        </p:nvSpPr>
        <p:spPr>
          <a:xfrm>
            <a:off x="7710221" y="453085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Shape 244"/>
          <p:cNvSpPr/>
          <p:nvPr/>
        </p:nvSpPr>
        <p:spPr>
          <a:xfrm>
            <a:off x="6812280" y="476173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Text 245"/>
          <p:cNvSpPr/>
          <p:nvPr/>
        </p:nvSpPr>
        <p:spPr>
          <a:xfrm>
            <a:off x="6922008" y="470916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8" name="Text 246"/>
          <p:cNvSpPr/>
          <p:nvPr/>
        </p:nvSpPr>
        <p:spPr>
          <a:xfrm>
            <a:off x="7710221" y="470916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Shape 247"/>
          <p:cNvSpPr/>
          <p:nvPr/>
        </p:nvSpPr>
        <p:spPr>
          <a:xfrm>
            <a:off x="6766560" y="4887468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Shape 248"/>
          <p:cNvSpPr/>
          <p:nvPr/>
        </p:nvSpPr>
        <p:spPr>
          <a:xfrm>
            <a:off x="6812280" y="494004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1" name="Text 249"/>
          <p:cNvSpPr/>
          <p:nvPr/>
        </p:nvSpPr>
        <p:spPr>
          <a:xfrm>
            <a:off x="6922008" y="488746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Text 250"/>
          <p:cNvSpPr/>
          <p:nvPr/>
        </p:nvSpPr>
        <p:spPr>
          <a:xfrm>
            <a:off x="7710221" y="488746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3" name="Shape 251"/>
          <p:cNvSpPr/>
          <p:nvPr/>
        </p:nvSpPr>
        <p:spPr>
          <a:xfrm>
            <a:off x="6812280" y="511835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Text 252"/>
          <p:cNvSpPr/>
          <p:nvPr/>
        </p:nvSpPr>
        <p:spPr>
          <a:xfrm>
            <a:off x="6922008" y="506577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precio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5" name="Text 253"/>
          <p:cNvSpPr/>
          <p:nvPr/>
        </p:nvSpPr>
        <p:spPr>
          <a:xfrm>
            <a:off x="7710221" y="506577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6" name="Shape 254"/>
          <p:cNvSpPr/>
          <p:nvPr/>
        </p:nvSpPr>
        <p:spPr>
          <a:xfrm>
            <a:off x="6766560" y="524408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7" name="Shape 255"/>
          <p:cNvSpPr/>
          <p:nvPr/>
        </p:nvSpPr>
        <p:spPr>
          <a:xfrm>
            <a:off x="6812280" y="529666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8" name="Text 256"/>
          <p:cNvSpPr/>
          <p:nvPr/>
        </p:nvSpPr>
        <p:spPr>
          <a:xfrm>
            <a:off x="6922008" y="524408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9" name="Text 257"/>
          <p:cNvSpPr/>
          <p:nvPr/>
        </p:nvSpPr>
        <p:spPr>
          <a:xfrm>
            <a:off x="7710221" y="524408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0" name="Shape 258"/>
          <p:cNvSpPr/>
          <p:nvPr/>
        </p:nvSpPr>
        <p:spPr>
          <a:xfrm>
            <a:off x="6812280" y="547497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1" name="Text 259"/>
          <p:cNvSpPr/>
          <p:nvPr/>
        </p:nvSpPr>
        <p:spPr>
          <a:xfrm>
            <a:off x="6922008" y="542239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imagen_url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2" name="Text 260"/>
          <p:cNvSpPr/>
          <p:nvPr/>
        </p:nvSpPr>
        <p:spPr>
          <a:xfrm>
            <a:off x="7710221" y="542239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3" name="Shape 261"/>
          <p:cNvSpPr/>
          <p:nvPr/>
        </p:nvSpPr>
        <p:spPr>
          <a:xfrm>
            <a:off x="6766560" y="560070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4" name="Shape 262"/>
          <p:cNvSpPr/>
          <p:nvPr/>
        </p:nvSpPr>
        <p:spPr>
          <a:xfrm>
            <a:off x="6812280" y="565327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5" name="Text 263"/>
          <p:cNvSpPr/>
          <p:nvPr/>
        </p:nvSpPr>
        <p:spPr>
          <a:xfrm>
            <a:off x="6922008" y="560070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Text 264"/>
          <p:cNvSpPr/>
          <p:nvPr/>
        </p:nvSpPr>
        <p:spPr>
          <a:xfrm>
            <a:off x="7710221" y="560070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7" name="Shape 265"/>
          <p:cNvSpPr/>
          <p:nvPr/>
        </p:nvSpPr>
        <p:spPr>
          <a:xfrm>
            <a:off x="6812280" y="583158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8" name="Text 266"/>
          <p:cNvSpPr/>
          <p:nvPr/>
        </p:nvSpPr>
        <p:spPr>
          <a:xfrm>
            <a:off x="6922008" y="577900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ubicacion_texto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9" name="Text 267"/>
          <p:cNvSpPr/>
          <p:nvPr/>
        </p:nvSpPr>
        <p:spPr>
          <a:xfrm>
            <a:off x="7710221" y="577900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0" name="Shape 268"/>
          <p:cNvSpPr/>
          <p:nvPr/>
        </p:nvSpPr>
        <p:spPr>
          <a:xfrm>
            <a:off x="6766560" y="5957316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1" name="Shape 269"/>
          <p:cNvSpPr/>
          <p:nvPr/>
        </p:nvSpPr>
        <p:spPr>
          <a:xfrm>
            <a:off x="6812280" y="600989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2" name="Text 270"/>
          <p:cNvSpPr/>
          <p:nvPr/>
        </p:nvSpPr>
        <p:spPr>
          <a:xfrm>
            <a:off x="6922008" y="595731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latitud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3" name="Text 271"/>
          <p:cNvSpPr/>
          <p:nvPr/>
        </p:nvSpPr>
        <p:spPr>
          <a:xfrm>
            <a:off x="7710221" y="595731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float8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4" name="Shape 272"/>
          <p:cNvSpPr/>
          <p:nvPr/>
        </p:nvSpPr>
        <p:spPr>
          <a:xfrm>
            <a:off x="6812280" y="618820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Text 273"/>
          <p:cNvSpPr/>
          <p:nvPr/>
        </p:nvSpPr>
        <p:spPr>
          <a:xfrm>
            <a:off x="6922008" y="613562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6" name="Text 274"/>
          <p:cNvSpPr/>
          <p:nvPr/>
        </p:nvSpPr>
        <p:spPr>
          <a:xfrm>
            <a:off x="7710221" y="613562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float8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7" name="Shape 275"/>
          <p:cNvSpPr/>
          <p:nvPr/>
        </p:nvSpPr>
        <p:spPr>
          <a:xfrm>
            <a:off x="6766560" y="631393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8" name="Shape 276"/>
          <p:cNvSpPr/>
          <p:nvPr/>
        </p:nvSpPr>
        <p:spPr>
          <a:xfrm>
            <a:off x="6812280" y="636651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9" name="Text 277"/>
          <p:cNvSpPr/>
          <p:nvPr/>
        </p:nvSpPr>
        <p:spPr>
          <a:xfrm>
            <a:off x="6922008" y="631393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0" name="Text 278"/>
          <p:cNvSpPr/>
          <p:nvPr/>
        </p:nvSpPr>
        <p:spPr>
          <a:xfrm>
            <a:off x="7710221" y="631393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1" name="Shape 279"/>
          <p:cNvSpPr/>
          <p:nvPr/>
        </p:nvSpPr>
        <p:spPr>
          <a:xfrm>
            <a:off x="4983480" y="5559552"/>
            <a:ext cx="1572768" cy="950976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Shape 280"/>
          <p:cNvSpPr/>
          <p:nvPr/>
        </p:nvSpPr>
        <p:spPr>
          <a:xfrm>
            <a:off x="4983480" y="5559552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3" name="Text 281"/>
          <p:cNvSpPr/>
          <p:nvPr/>
        </p:nvSpPr>
        <p:spPr>
          <a:xfrm>
            <a:off x="5056632" y="555955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mercado_guardados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4" name="Shape 282"/>
          <p:cNvSpPr/>
          <p:nvPr/>
        </p:nvSpPr>
        <p:spPr>
          <a:xfrm>
            <a:off x="5029200" y="5849874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5" name="Text 283"/>
          <p:cNvSpPr/>
          <p:nvPr/>
        </p:nvSpPr>
        <p:spPr>
          <a:xfrm>
            <a:off x="5138928" y="579729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6" name="Text 284"/>
          <p:cNvSpPr/>
          <p:nvPr/>
        </p:nvSpPr>
        <p:spPr>
          <a:xfrm>
            <a:off x="5927141" y="579729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7" name="Shape 285"/>
          <p:cNvSpPr/>
          <p:nvPr/>
        </p:nvSpPr>
        <p:spPr>
          <a:xfrm>
            <a:off x="4983480" y="597560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Shape 286"/>
          <p:cNvSpPr/>
          <p:nvPr/>
        </p:nvSpPr>
        <p:spPr>
          <a:xfrm>
            <a:off x="5029200" y="6028182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9" name="Text 287"/>
          <p:cNvSpPr/>
          <p:nvPr/>
        </p:nvSpPr>
        <p:spPr>
          <a:xfrm>
            <a:off x="5138928" y="597560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item_id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0" name="Text 288"/>
          <p:cNvSpPr/>
          <p:nvPr/>
        </p:nvSpPr>
        <p:spPr>
          <a:xfrm>
            <a:off x="5927141" y="597560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1" name="Shape 289"/>
          <p:cNvSpPr/>
          <p:nvPr/>
        </p:nvSpPr>
        <p:spPr>
          <a:xfrm>
            <a:off x="5029200" y="6206490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2" name="Text 290"/>
          <p:cNvSpPr/>
          <p:nvPr/>
        </p:nvSpPr>
        <p:spPr>
          <a:xfrm>
            <a:off x="5138928" y="615391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3" name="Text 291"/>
          <p:cNvSpPr/>
          <p:nvPr/>
        </p:nvSpPr>
        <p:spPr>
          <a:xfrm>
            <a:off x="5927141" y="615391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4" name="Shape 292"/>
          <p:cNvSpPr/>
          <p:nvPr/>
        </p:nvSpPr>
        <p:spPr>
          <a:xfrm>
            <a:off x="4983480" y="633222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5" name="Shape 293"/>
          <p:cNvSpPr/>
          <p:nvPr/>
        </p:nvSpPr>
        <p:spPr>
          <a:xfrm>
            <a:off x="5029200" y="638479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6" name="Text 294"/>
          <p:cNvSpPr/>
          <p:nvPr/>
        </p:nvSpPr>
        <p:spPr>
          <a:xfrm>
            <a:off x="5138928" y="633222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7" name="Text 295"/>
          <p:cNvSpPr/>
          <p:nvPr/>
        </p:nvSpPr>
        <p:spPr>
          <a:xfrm>
            <a:off x="5927141" y="633222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8" name="Shape 296"/>
          <p:cNvSpPr/>
          <p:nvPr/>
        </p:nvSpPr>
        <p:spPr>
          <a:xfrm>
            <a:off x="10030968" y="582930"/>
            <a:ext cx="256032" cy="64008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9" name="Shape 297"/>
          <p:cNvSpPr/>
          <p:nvPr/>
        </p:nvSpPr>
        <p:spPr>
          <a:xfrm flipV="1">
            <a:off x="6556247" y="582930"/>
            <a:ext cx="1888785" cy="178308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1" name="Shape 299"/>
          <p:cNvSpPr/>
          <p:nvPr/>
        </p:nvSpPr>
        <p:spPr>
          <a:xfrm flipV="1">
            <a:off x="4498848" y="610362"/>
            <a:ext cx="530352" cy="150876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3" name="Shape 301"/>
          <p:cNvSpPr/>
          <p:nvPr/>
        </p:nvSpPr>
        <p:spPr>
          <a:xfrm flipV="1">
            <a:off x="4498848" y="2868930"/>
            <a:ext cx="484632" cy="445770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5" name="Shape 303"/>
          <p:cNvSpPr/>
          <p:nvPr/>
        </p:nvSpPr>
        <p:spPr>
          <a:xfrm flipV="1">
            <a:off x="4498848" y="2958084"/>
            <a:ext cx="484632" cy="1479042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6" name="Shape 304"/>
          <p:cNvSpPr/>
          <p:nvPr/>
        </p:nvSpPr>
        <p:spPr>
          <a:xfrm flipV="1">
            <a:off x="1861353" y="5365242"/>
            <a:ext cx="1064727" cy="109728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7" name="Shape 305"/>
          <p:cNvSpPr/>
          <p:nvPr/>
        </p:nvSpPr>
        <p:spPr>
          <a:xfrm flipH="1">
            <a:off x="8339328" y="557784"/>
            <a:ext cx="100584" cy="4057650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8" name="Shape 306"/>
          <p:cNvSpPr/>
          <p:nvPr/>
        </p:nvSpPr>
        <p:spPr>
          <a:xfrm>
            <a:off x="6556248" y="4441698"/>
            <a:ext cx="210312" cy="210312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9" name="Text 307"/>
          <p:cNvSpPr/>
          <p:nvPr/>
        </p:nvSpPr>
        <p:spPr>
          <a:xfrm>
            <a:off x="320040" y="91440"/>
            <a:ext cx="185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ECF8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de Datos · Supabase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" name="Shape 308"/>
          <p:cNvSpPr/>
          <p:nvPr/>
        </p:nvSpPr>
        <p:spPr>
          <a:xfrm>
            <a:off x="320040" y="6473952"/>
            <a:ext cx="82296" cy="82296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1" name="Text 309"/>
          <p:cNvSpPr/>
          <p:nvPr/>
        </p:nvSpPr>
        <p:spPr>
          <a:xfrm>
            <a:off x="429768" y="646480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2" name="Shape 310"/>
          <p:cNvSpPr/>
          <p:nvPr/>
        </p:nvSpPr>
        <p:spPr>
          <a:xfrm>
            <a:off x="777240" y="6473952"/>
            <a:ext cx="82296" cy="82296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3" name="Text 311"/>
          <p:cNvSpPr/>
          <p:nvPr/>
        </p:nvSpPr>
        <p:spPr>
          <a:xfrm>
            <a:off x="886968" y="646480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4" name="Shape 306">
            <a:extLst>
              <a:ext uri="{FF2B5EF4-FFF2-40B4-BE49-F238E27FC236}">
                <a16:creationId xmlns:a16="http://schemas.microsoft.com/office/drawing/2014/main" id="{F9784FB6-C813-9B2C-F0FE-2A9EEB068D81}"/>
              </a:ext>
            </a:extLst>
          </p:cNvPr>
          <p:cNvSpPr/>
          <p:nvPr/>
        </p:nvSpPr>
        <p:spPr>
          <a:xfrm flipV="1">
            <a:off x="6556248" y="4510278"/>
            <a:ext cx="210312" cy="1389888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5" name="Shape 306">
            <a:extLst>
              <a:ext uri="{FF2B5EF4-FFF2-40B4-BE49-F238E27FC236}">
                <a16:creationId xmlns:a16="http://schemas.microsoft.com/office/drawing/2014/main" id="{5475B2CA-F26C-FE41-5132-04660296060C}"/>
              </a:ext>
            </a:extLst>
          </p:cNvPr>
          <p:cNvSpPr/>
          <p:nvPr/>
        </p:nvSpPr>
        <p:spPr>
          <a:xfrm flipV="1">
            <a:off x="4498848" y="2905506"/>
            <a:ext cx="484632" cy="2569464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6" name="Shape 301">
            <a:extLst>
              <a:ext uri="{FF2B5EF4-FFF2-40B4-BE49-F238E27FC236}">
                <a16:creationId xmlns:a16="http://schemas.microsoft.com/office/drawing/2014/main" id="{50D5FC53-4760-5771-3A7F-025FF7D99CA7}"/>
              </a:ext>
            </a:extLst>
          </p:cNvPr>
          <p:cNvSpPr/>
          <p:nvPr/>
        </p:nvSpPr>
        <p:spPr>
          <a:xfrm flipV="1">
            <a:off x="4498848" y="619506"/>
            <a:ext cx="484632" cy="1479042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Shape 301">
            <a:extLst>
              <a:ext uri="{FF2B5EF4-FFF2-40B4-BE49-F238E27FC236}">
                <a16:creationId xmlns:a16="http://schemas.microsoft.com/office/drawing/2014/main" id="{34FA9781-FE26-9293-9232-C551F28B4B61}"/>
              </a:ext>
            </a:extLst>
          </p:cNvPr>
          <p:cNvSpPr/>
          <p:nvPr/>
        </p:nvSpPr>
        <p:spPr>
          <a:xfrm flipH="1" flipV="1">
            <a:off x="5762444" y="4935474"/>
            <a:ext cx="0" cy="624078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3" name="Grupo 352">
            <a:extLst>
              <a:ext uri="{FF2B5EF4-FFF2-40B4-BE49-F238E27FC236}">
                <a16:creationId xmlns:a16="http://schemas.microsoft.com/office/drawing/2014/main" id="{50C0C53A-6241-05D5-ED55-AC7601B1A8CF}"/>
              </a:ext>
            </a:extLst>
          </p:cNvPr>
          <p:cNvGrpSpPr/>
          <p:nvPr/>
        </p:nvGrpSpPr>
        <p:grpSpPr>
          <a:xfrm>
            <a:off x="8757209" y="4942332"/>
            <a:ext cx="1575511" cy="1595628"/>
            <a:chOff x="562356" y="493776"/>
            <a:chExt cx="1575511" cy="1595628"/>
          </a:xfrm>
        </p:grpSpPr>
        <p:sp>
          <p:nvSpPr>
            <p:cNvPr id="304" name="Shape 68">
              <a:extLst>
                <a:ext uri="{FF2B5EF4-FFF2-40B4-BE49-F238E27FC236}">
                  <a16:creationId xmlns:a16="http://schemas.microsoft.com/office/drawing/2014/main" id="{09F938A0-1521-7556-68E5-97024CCF7207}"/>
                </a:ext>
              </a:extLst>
            </p:cNvPr>
            <p:cNvSpPr/>
            <p:nvPr/>
          </p:nvSpPr>
          <p:spPr>
            <a:xfrm>
              <a:off x="562356" y="493776"/>
              <a:ext cx="1572768" cy="1563624"/>
            </a:xfrm>
            <a:prstGeom prst="rect">
              <a:avLst/>
            </a:prstGeom>
            <a:solidFill>
              <a:srgbClr val="1C2333"/>
            </a:solidFill>
            <a:ln w="1270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8" name="Shape 69">
              <a:extLst>
                <a:ext uri="{FF2B5EF4-FFF2-40B4-BE49-F238E27FC236}">
                  <a16:creationId xmlns:a16="http://schemas.microsoft.com/office/drawing/2014/main" id="{F8843090-363C-23BD-3BD2-B965DFA8960D}"/>
                </a:ext>
              </a:extLst>
            </p:cNvPr>
            <p:cNvSpPr/>
            <p:nvPr/>
          </p:nvSpPr>
          <p:spPr>
            <a:xfrm>
              <a:off x="562356" y="493776"/>
              <a:ext cx="1572768" cy="237744"/>
            </a:xfrm>
            <a:prstGeom prst="rect">
              <a:avLst/>
            </a:prstGeom>
            <a:solidFill>
              <a:srgbClr val="1E3A5F"/>
            </a:solidFill>
            <a:ln w="635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9" name="Text 70">
              <a:extLst>
                <a:ext uri="{FF2B5EF4-FFF2-40B4-BE49-F238E27FC236}">
                  <a16:creationId xmlns:a16="http://schemas.microsoft.com/office/drawing/2014/main" id="{CE54FF6D-2EF1-D280-47F9-951AB8630D64}"/>
                </a:ext>
              </a:extLst>
            </p:cNvPr>
            <p:cNvSpPr/>
            <p:nvPr/>
          </p:nvSpPr>
          <p:spPr>
            <a:xfrm>
              <a:off x="635508" y="493776"/>
              <a:ext cx="148132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mensajes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0" name="Shape 71">
              <a:extLst>
                <a:ext uri="{FF2B5EF4-FFF2-40B4-BE49-F238E27FC236}">
                  <a16:creationId xmlns:a16="http://schemas.microsoft.com/office/drawing/2014/main" id="{93322584-6068-5CB0-A29F-99C984A46F27}"/>
                </a:ext>
              </a:extLst>
            </p:cNvPr>
            <p:cNvSpPr/>
            <p:nvPr/>
          </p:nvSpPr>
          <p:spPr>
            <a:xfrm>
              <a:off x="608076" y="784098"/>
              <a:ext cx="73152" cy="73152"/>
            </a:xfrm>
            <a:prstGeom prst="ellipse">
              <a:avLst/>
            </a:prstGeom>
            <a:solidFill>
              <a:srgbClr val="F6C90E"/>
            </a:solidFill>
            <a:ln w="12700">
              <a:solidFill>
                <a:srgbClr val="F6C90E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1" name="Text 72">
              <a:extLst>
                <a:ext uri="{FF2B5EF4-FFF2-40B4-BE49-F238E27FC236}">
                  <a16:creationId xmlns:a16="http://schemas.microsoft.com/office/drawing/2014/main" id="{91068D9F-AE9E-B4CC-7540-A70D837736C0}"/>
                </a:ext>
              </a:extLst>
            </p:cNvPr>
            <p:cNvSpPr/>
            <p:nvPr/>
          </p:nvSpPr>
          <p:spPr>
            <a:xfrm>
              <a:off x="717804" y="731520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6C90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2" name="Text 73">
              <a:extLst>
                <a:ext uri="{FF2B5EF4-FFF2-40B4-BE49-F238E27FC236}">
                  <a16:creationId xmlns:a16="http://schemas.microsoft.com/office/drawing/2014/main" id="{3E84D7FC-B12D-AA97-1B62-739C0CC4D019}"/>
                </a:ext>
              </a:extLst>
            </p:cNvPr>
            <p:cNvSpPr/>
            <p:nvPr/>
          </p:nvSpPr>
          <p:spPr>
            <a:xfrm>
              <a:off x="1506017" y="731520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4E9F6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uuid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Shape 74">
              <a:extLst>
                <a:ext uri="{FF2B5EF4-FFF2-40B4-BE49-F238E27FC236}">
                  <a16:creationId xmlns:a16="http://schemas.microsoft.com/office/drawing/2014/main" id="{62FBB529-132D-815B-787F-B68C1736DFB6}"/>
                </a:ext>
              </a:extLst>
            </p:cNvPr>
            <p:cNvSpPr/>
            <p:nvPr/>
          </p:nvSpPr>
          <p:spPr>
            <a:xfrm>
              <a:off x="562356" y="909828"/>
              <a:ext cx="1572768" cy="178308"/>
            </a:xfrm>
            <a:prstGeom prst="rect">
              <a:avLst/>
            </a:prstGeom>
            <a:solidFill>
              <a:srgbClr val="17202E"/>
            </a:solidFill>
            <a:ln w="381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Shape 75">
              <a:extLst>
                <a:ext uri="{FF2B5EF4-FFF2-40B4-BE49-F238E27FC236}">
                  <a16:creationId xmlns:a16="http://schemas.microsoft.com/office/drawing/2014/main" id="{5E7237B5-6D64-ED91-01B3-043E681E6801}"/>
                </a:ext>
              </a:extLst>
            </p:cNvPr>
            <p:cNvSpPr/>
            <p:nvPr/>
          </p:nvSpPr>
          <p:spPr>
            <a:xfrm>
              <a:off x="608076" y="962406"/>
              <a:ext cx="73152" cy="73152"/>
            </a:xfrm>
            <a:prstGeom prst="ellipse">
              <a:avLst/>
            </a:prstGeom>
            <a:solidFill>
              <a:srgbClr val="6EB5FF"/>
            </a:solidFill>
            <a:ln w="12700">
              <a:solidFill>
                <a:srgbClr val="6EB5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Text 76">
              <a:extLst>
                <a:ext uri="{FF2B5EF4-FFF2-40B4-BE49-F238E27FC236}">
                  <a16:creationId xmlns:a16="http://schemas.microsoft.com/office/drawing/2014/main" id="{DCF319B8-708B-A3FE-0E5E-B23E06FF8A90}"/>
                </a:ext>
              </a:extLst>
            </p:cNvPr>
            <p:cNvSpPr/>
            <p:nvPr/>
          </p:nvSpPr>
          <p:spPr>
            <a:xfrm>
              <a:off x="717804" y="909828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50" dirty="0">
                  <a:solidFill>
                    <a:srgbClr val="6EB5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item</a:t>
              </a:r>
              <a:r>
                <a:rPr kumimoji="0" lang="en-US" sz="650" b="0" i="0" u="none" strike="noStrike" kern="1200" cap="none" spc="0" normalizeH="0" baseline="0" noProof="0" dirty="0">
                  <a:ln>
                    <a:noFill/>
                  </a:ln>
                  <a:solidFill>
                    <a:srgbClr val="6EB5FF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_id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6" name="Text 77">
              <a:extLst>
                <a:ext uri="{FF2B5EF4-FFF2-40B4-BE49-F238E27FC236}">
                  <a16:creationId xmlns:a16="http://schemas.microsoft.com/office/drawing/2014/main" id="{6E119231-5068-ABDE-F247-A4A580F08755}"/>
                </a:ext>
              </a:extLst>
            </p:cNvPr>
            <p:cNvSpPr/>
            <p:nvPr/>
          </p:nvSpPr>
          <p:spPr>
            <a:xfrm>
              <a:off x="1506017" y="909828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4E9F6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uuid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" name="Shape 78">
              <a:extLst>
                <a:ext uri="{FF2B5EF4-FFF2-40B4-BE49-F238E27FC236}">
                  <a16:creationId xmlns:a16="http://schemas.microsoft.com/office/drawing/2014/main" id="{36AFC8B5-99DC-88CD-3186-84C797F806F4}"/>
                </a:ext>
              </a:extLst>
            </p:cNvPr>
            <p:cNvSpPr/>
            <p:nvPr/>
          </p:nvSpPr>
          <p:spPr>
            <a:xfrm>
              <a:off x="608076" y="1140714"/>
              <a:ext cx="73152" cy="73152"/>
            </a:xfrm>
            <a:prstGeom prst="ellipse">
              <a:avLst/>
            </a:prstGeom>
            <a:solidFill>
              <a:srgbClr val="6EB5FF"/>
            </a:solidFill>
            <a:ln w="12700">
              <a:solidFill>
                <a:srgbClr val="6EB5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8" name="Text 79">
              <a:extLst>
                <a:ext uri="{FF2B5EF4-FFF2-40B4-BE49-F238E27FC236}">
                  <a16:creationId xmlns:a16="http://schemas.microsoft.com/office/drawing/2014/main" id="{CB1E43CD-7451-BA18-1E50-A3D788BD1004}"/>
                </a:ext>
              </a:extLst>
            </p:cNvPr>
            <p:cNvSpPr/>
            <p:nvPr/>
          </p:nvSpPr>
          <p:spPr>
            <a:xfrm>
              <a:off x="717804" y="1088136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50" dirty="0" err="1">
                  <a:solidFill>
                    <a:srgbClr val="6EB5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remitente</a:t>
              </a:r>
              <a:r>
                <a:rPr kumimoji="0" lang="en-US" sz="650" b="0" i="0" u="none" strike="noStrike" kern="1200" cap="none" spc="0" normalizeH="0" baseline="0" noProof="0" dirty="0">
                  <a:ln>
                    <a:noFill/>
                  </a:ln>
                  <a:solidFill>
                    <a:srgbClr val="6EB5FF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_id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9" name="Text 80">
              <a:extLst>
                <a:ext uri="{FF2B5EF4-FFF2-40B4-BE49-F238E27FC236}">
                  <a16:creationId xmlns:a16="http://schemas.microsoft.com/office/drawing/2014/main" id="{0EC4D563-7AD6-2A3A-82D5-719CA752501C}"/>
                </a:ext>
              </a:extLst>
            </p:cNvPr>
            <p:cNvSpPr/>
            <p:nvPr/>
          </p:nvSpPr>
          <p:spPr>
            <a:xfrm>
              <a:off x="1506017" y="1088136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4E9F6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uuid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0" name="Shape 81">
              <a:extLst>
                <a:ext uri="{FF2B5EF4-FFF2-40B4-BE49-F238E27FC236}">
                  <a16:creationId xmlns:a16="http://schemas.microsoft.com/office/drawing/2014/main" id="{A2442FFA-89AB-C6EB-77B0-315A02590EB9}"/>
                </a:ext>
              </a:extLst>
            </p:cNvPr>
            <p:cNvSpPr/>
            <p:nvPr/>
          </p:nvSpPr>
          <p:spPr>
            <a:xfrm>
              <a:off x="562356" y="1266444"/>
              <a:ext cx="1572768" cy="178308"/>
            </a:xfrm>
            <a:prstGeom prst="rect">
              <a:avLst/>
            </a:prstGeom>
            <a:solidFill>
              <a:srgbClr val="17202E"/>
            </a:solidFill>
            <a:ln w="381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2" name="Text 83">
              <a:extLst>
                <a:ext uri="{FF2B5EF4-FFF2-40B4-BE49-F238E27FC236}">
                  <a16:creationId xmlns:a16="http://schemas.microsoft.com/office/drawing/2014/main" id="{CE571F52-62A1-13B2-79B8-C514D2166BCD}"/>
                </a:ext>
              </a:extLst>
            </p:cNvPr>
            <p:cNvSpPr/>
            <p:nvPr/>
          </p:nvSpPr>
          <p:spPr>
            <a:xfrm>
              <a:off x="717804" y="1266444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50" dirty="0" err="1">
                  <a:solidFill>
                    <a:srgbClr val="6EB5FF"/>
                  </a:solidFill>
                  <a:latin typeface="Consolas" pitchFamily="34" charset="0"/>
                </a:rPr>
                <a:t>destinatario_id</a:t>
              </a:r>
              <a:endParaRPr lang="en-US" sz="650" dirty="0">
                <a:solidFill>
                  <a:srgbClr val="6EB5FF"/>
                </a:solidFill>
                <a:latin typeface="Consolas" pitchFamily="34" charset="0"/>
              </a:endParaRPr>
            </a:p>
          </p:txBody>
        </p:sp>
        <p:sp>
          <p:nvSpPr>
            <p:cNvPr id="333" name="Text 84">
              <a:extLst>
                <a:ext uri="{FF2B5EF4-FFF2-40B4-BE49-F238E27FC236}">
                  <a16:creationId xmlns:a16="http://schemas.microsoft.com/office/drawing/2014/main" id="{1BD221DD-0BC5-B912-8F35-F66067646FE9}"/>
                </a:ext>
              </a:extLst>
            </p:cNvPr>
            <p:cNvSpPr/>
            <p:nvPr/>
          </p:nvSpPr>
          <p:spPr>
            <a:xfrm>
              <a:off x="1506017" y="1266444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 algn="r">
                <a:defRPr/>
              </a:pPr>
              <a:r>
                <a:rPr lang="en-US" sz="600" dirty="0" err="1">
                  <a:solidFill>
                    <a:srgbClr val="4E9F6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uuid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4" name="Shape 85">
              <a:extLst>
                <a:ext uri="{FF2B5EF4-FFF2-40B4-BE49-F238E27FC236}">
                  <a16:creationId xmlns:a16="http://schemas.microsoft.com/office/drawing/2014/main" id="{18DD914E-0D7F-BB90-6D86-EA400DD7148F}"/>
                </a:ext>
              </a:extLst>
            </p:cNvPr>
            <p:cNvSpPr/>
            <p:nvPr/>
          </p:nvSpPr>
          <p:spPr>
            <a:xfrm>
              <a:off x="608076" y="1497330"/>
              <a:ext cx="73152" cy="73152"/>
            </a:xfrm>
            <a:prstGeom prst="ellipse">
              <a:avLst/>
            </a:prstGeom>
            <a:solidFill>
              <a:srgbClr val="2A3A55"/>
            </a:solidFill>
            <a:ln w="1270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5" name="Text 86">
              <a:extLst>
                <a:ext uri="{FF2B5EF4-FFF2-40B4-BE49-F238E27FC236}">
                  <a16:creationId xmlns:a16="http://schemas.microsoft.com/office/drawing/2014/main" id="{651D69AA-4B9C-94CD-F464-02B4947A304D}"/>
                </a:ext>
              </a:extLst>
            </p:cNvPr>
            <p:cNvSpPr/>
            <p:nvPr/>
          </p:nvSpPr>
          <p:spPr>
            <a:xfrm>
              <a:off x="717804" y="1444752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50" dirty="0" err="1">
                  <a:solidFill>
                    <a:srgbClr val="A8B5C8"/>
                  </a:solidFill>
                  <a:latin typeface="Consolas" pitchFamily="34" charset="0"/>
                </a:rPr>
                <a:t>contenido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6" name="Text 87">
              <a:extLst>
                <a:ext uri="{FF2B5EF4-FFF2-40B4-BE49-F238E27FC236}">
                  <a16:creationId xmlns:a16="http://schemas.microsoft.com/office/drawing/2014/main" id="{B73F7996-5EB6-1634-52CE-89E39ED05E3E}"/>
                </a:ext>
              </a:extLst>
            </p:cNvPr>
            <p:cNvSpPr/>
            <p:nvPr/>
          </p:nvSpPr>
          <p:spPr>
            <a:xfrm>
              <a:off x="1506017" y="1444752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4E9F6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text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9" name="Shape 78">
              <a:extLst>
                <a:ext uri="{FF2B5EF4-FFF2-40B4-BE49-F238E27FC236}">
                  <a16:creationId xmlns:a16="http://schemas.microsoft.com/office/drawing/2014/main" id="{F7174612-5694-9BDC-5FC0-3797EB47A908}"/>
                </a:ext>
              </a:extLst>
            </p:cNvPr>
            <p:cNvSpPr/>
            <p:nvPr/>
          </p:nvSpPr>
          <p:spPr>
            <a:xfrm>
              <a:off x="614172" y="1307592"/>
              <a:ext cx="73152" cy="73152"/>
            </a:xfrm>
            <a:prstGeom prst="ellipse">
              <a:avLst/>
            </a:prstGeom>
            <a:solidFill>
              <a:srgbClr val="6EB5FF"/>
            </a:solidFill>
            <a:ln w="12700">
              <a:solidFill>
                <a:srgbClr val="6EB5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3" name="Shape 74">
              <a:extLst>
                <a:ext uri="{FF2B5EF4-FFF2-40B4-BE49-F238E27FC236}">
                  <a16:creationId xmlns:a16="http://schemas.microsoft.com/office/drawing/2014/main" id="{A935F56E-F869-1AB0-B345-615C4F0875C8}"/>
                </a:ext>
              </a:extLst>
            </p:cNvPr>
            <p:cNvSpPr/>
            <p:nvPr/>
          </p:nvSpPr>
          <p:spPr>
            <a:xfrm>
              <a:off x="562356" y="1618488"/>
              <a:ext cx="1572768" cy="178308"/>
            </a:xfrm>
            <a:prstGeom prst="rect">
              <a:avLst/>
            </a:prstGeom>
            <a:solidFill>
              <a:srgbClr val="17202E"/>
            </a:solidFill>
            <a:ln w="381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0" name="Shape 85">
              <a:extLst>
                <a:ext uri="{FF2B5EF4-FFF2-40B4-BE49-F238E27FC236}">
                  <a16:creationId xmlns:a16="http://schemas.microsoft.com/office/drawing/2014/main" id="{D83E3C7A-4DC5-414E-5EE5-4345A0F093CE}"/>
                </a:ext>
              </a:extLst>
            </p:cNvPr>
            <p:cNvSpPr/>
            <p:nvPr/>
          </p:nvSpPr>
          <p:spPr>
            <a:xfrm>
              <a:off x="614172" y="1645920"/>
              <a:ext cx="73152" cy="73152"/>
            </a:xfrm>
            <a:prstGeom prst="ellipse">
              <a:avLst/>
            </a:prstGeom>
            <a:solidFill>
              <a:srgbClr val="2A3A55"/>
            </a:solidFill>
            <a:ln w="1270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1" name="Text 86">
              <a:extLst>
                <a:ext uri="{FF2B5EF4-FFF2-40B4-BE49-F238E27FC236}">
                  <a16:creationId xmlns:a16="http://schemas.microsoft.com/office/drawing/2014/main" id="{903CEB26-2FBE-C54E-B123-E41901898F41}"/>
                </a:ext>
              </a:extLst>
            </p:cNvPr>
            <p:cNvSpPr/>
            <p:nvPr/>
          </p:nvSpPr>
          <p:spPr>
            <a:xfrm>
              <a:off x="733044" y="1593342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50" dirty="0" err="1">
                  <a:solidFill>
                    <a:srgbClr val="A8B5C8"/>
                  </a:solidFill>
                  <a:latin typeface="Consolas" pitchFamily="34" charset="0"/>
                </a:rPr>
                <a:t>imagen_url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2" name="Text 87">
              <a:extLst>
                <a:ext uri="{FF2B5EF4-FFF2-40B4-BE49-F238E27FC236}">
                  <a16:creationId xmlns:a16="http://schemas.microsoft.com/office/drawing/2014/main" id="{AC069593-D036-85A7-B311-CDB039E4EE0C}"/>
                </a:ext>
              </a:extLst>
            </p:cNvPr>
            <p:cNvSpPr/>
            <p:nvPr/>
          </p:nvSpPr>
          <p:spPr>
            <a:xfrm>
              <a:off x="1502969" y="1597152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4E9F6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text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4" name="Text 86">
              <a:extLst>
                <a:ext uri="{FF2B5EF4-FFF2-40B4-BE49-F238E27FC236}">
                  <a16:creationId xmlns:a16="http://schemas.microsoft.com/office/drawing/2014/main" id="{177A8CFE-4393-7295-CD9C-721AEF173BAF}"/>
                </a:ext>
              </a:extLst>
            </p:cNvPr>
            <p:cNvSpPr/>
            <p:nvPr/>
          </p:nvSpPr>
          <p:spPr>
            <a:xfrm>
              <a:off x="729996" y="1764030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50" dirty="0" err="1">
                  <a:solidFill>
                    <a:srgbClr val="A8B5C8"/>
                  </a:solidFill>
                  <a:latin typeface="Consolas" pitchFamily="34" charset="0"/>
                </a:rPr>
                <a:t>leido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5" name="Shape 85">
              <a:extLst>
                <a:ext uri="{FF2B5EF4-FFF2-40B4-BE49-F238E27FC236}">
                  <a16:creationId xmlns:a16="http://schemas.microsoft.com/office/drawing/2014/main" id="{F5DB477F-B210-26C3-C2CC-4E1713DB3B36}"/>
                </a:ext>
              </a:extLst>
            </p:cNvPr>
            <p:cNvSpPr/>
            <p:nvPr/>
          </p:nvSpPr>
          <p:spPr>
            <a:xfrm>
              <a:off x="611124" y="1815084"/>
              <a:ext cx="73152" cy="73152"/>
            </a:xfrm>
            <a:prstGeom prst="ellipse">
              <a:avLst/>
            </a:prstGeom>
            <a:solidFill>
              <a:srgbClr val="2A3A55"/>
            </a:solidFill>
            <a:ln w="1270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7" name="Text 87">
              <a:extLst>
                <a:ext uri="{FF2B5EF4-FFF2-40B4-BE49-F238E27FC236}">
                  <a16:creationId xmlns:a16="http://schemas.microsoft.com/office/drawing/2014/main" id="{2760C5D0-32CB-FCCB-2129-772764085C11}"/>
                </a:ext>
              </a:extLst>
            </p:cNvPr>
            <p:cNvSpPr/>
            <p:nvPr/>
          </p:nvSpPr>
          <p:spPr>
            <a:xfrm>
              <a:off x="1509065" y="1758696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4E9F6E"/>
                  </a:solidFill>
                  <a:effectLst/>
                  <a:uLnTx/>
                  <a:uFillTx/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bool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8" name="Shape 74">
              <a:extLst>
                <a:ext uri="{FF2B5EF4-FFF2-40B4-BE49-F238E27FC236}">
                  <a16:creationId xmlns:a16="http://schemas.microsoft.com/office/drawing/2014/main" id="{ED357C6A-C971-859C-FA7F-EEFF735B9C93}"/>
                </a:ext>
              </a:extLst>
            </p:cNvPr>
            <p:cNvSpPr/>
            <p:nvPr/>
          </p:nvSpPr>
          <p:spPr>
            <a:xfrm>
              <a:off x="565099" y="1920240"/>
              <a:ext cx="1572768" cy="118872"/>
            </a:xfrm>
            <a:prstGeom prst="rect">
              <a:avLst/>
            </a:prstGeom>
            <a:solidFill>
              <a:srgbClr val="17202E"/>
            </a:solidFill>
            <a:ln w="381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9" name="Text 86">
              <a:extLst>
                <a:ext uri="{FF2B5EF4-FFF2-40B4-BE49-F238E27FC236}">
                  <a16:creationId xmlns:a16="http://schemas.microsoft.com/office/drawing/2014/main" id="{9D9B852B-D15E-7A93-74EC-6D7FF77B02E1}"/>
                </a:ext>
              </a:extLst>
            </p:cNvPr>
            <p:cNvSpPr/>
            <p:nvPr/>
          </p:nvSpPr>
          <p:spPr>
            <a:xfrm>
              <a:off x="736092" y="1898142"/>
              <a:ext cx="943661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50" dirty="0" err="1">
                  <a:solidFill>
                    <a:srgbClr val="A8B5C8"/>
                  </a:solidFill>
                  <a:latin typeface="Consolas" pitchFamily="34" charset="0"/>
                </a:rPr>
                <a:t>creado_en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0" name="Shape 85">
              <a:extLst>
                <a:ext uri="{FF2B5EF4-FFF2-40B4-BE49-F238E27FC236}">
                  <a16:creationId xmlns:a16="http://schemas.microsoft.com/office/drawing/2014/main" id="{503D54C7-1DBE-1276-C01A-BB04090603A3}"/>
                </a:ext>
              </a:extLst>
            </p:cNvPr>
            <p:cNvSpPr/>
            <p:nvPr/>
          </p:nvSpPr>
          <p:spPr>
            <a:xfrm>
              <a:off x="615696" y="1950720"/>
              <a:ext cx="73152" cy="73152"/>
            </a:xfrm>
            <a:prstGeom prst="ellipse">
              <a:avLst/>
            </a:prstGeom>
            <a:solidFill>
              <a:srgbClr val="2A3A55"/>
            </a:solidFill>
            <a:ln w="12700">
              <a:solidFill>
                <a:srgbClr val="2A3A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1" name="Text 87">
              <a:extLst>
                <a:ext uri="{FF2B5EF4-FFF2-40B4-BE49-F238E27FC236}">
                  <a16:creationId xmlns:a16="http://schemas.microsoft.com/office/drawing/2014/main" id="{0A69C410-3EBE-5F71-2E70-015606177116}"/>
                </a:ext>
              </a:extLst>
            </p:cNvPr>
            <p:cNvSpPr/>
            <p:nvPr/>
          </p:nvSpPr>
          <p:spPr>
            <a:xfrm>
              <a:off x="1515161" y="1911096"/>
              <a:ext cx="597652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 algn="r">
                <a:defRPr/>
              </a:pPr>
              <a:r>
                <a:rPr lang="en-US" sz="600" dirty="0" err="1">
                  <a:solidFill>
                    <a:srgbClr val="4E9F6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timestamptz</a:t>
              </a: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52" name="Shape 297">
            <a:extLst>
              <a:ext uri="{FF2B5EF4-FFF2-40B4-BE49-F238E27FC236}">
                <a16:creationId xmlns:a16="http://schemas.microsoft.com/office/drawing/2014/main" id="{500AB95F-BAA9-CE9D-FD64-8F1160174626}"/>
              </a:ext>
            </a:extLst>
          </p:cNvPr>
          <p:cNvSpPr/>
          <p:nvPr/>
        </p:nvSpPr>
        <p:spPr>
          <a:xfrm>
            <a:off x="8330185" y="4844034"/>
            <a:ext cx="429768" cy="576072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950976"/>
            <a:ext cx="1463040" cy="4876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072896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072896"/>
            <a:ext cx="73152" cy="1243584"/>
          </a:xfrm>
          <a:prstGeom prst="rect">
            <a:avLst/>
          </a:prstGeom>
          <a:solidFill>
            <a:srgbClr val="54C5F8"/>
          </a:solidFill>
          <a:ln w="12700">
            <a:solidFill>
              <a:srgbClr val="54C5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" y="1389888"/>
            <a:ext cx="609600" cy="609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134112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09344" y="1755648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UI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64736" y="1072896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64736" y="1072896"/>
            <a:ext cx="73152" cy="1243584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192" y="1389888"/>
            <a:ext cx="609600" cy="609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4480" y="134112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364480" y="1755648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BD · Auth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19872" y="1072896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19872" y="1072896"/>
            <a:ext cx="73152" cy="124358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1389888"/>
            <a:ext cx="609600" cy="609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9616" y="134112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119616" y="1755648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· Places · Geocoding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09600" y="2487168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09600" y="2487168"/>
            <a:ext cx="7315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56" y="2804160"/>
            <a:ext cx="609600" cy="609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9344" y="2755392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609344" y="31699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364736" y="2487168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364736" y="2487168"/>
            <a:ext cx="73152" cy="1243584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192" y="2804160"/>
            <a:ext cx="609600" cy="609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4480" y="2755392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5364480" y="31699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de desarrollo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119872" y="2487168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8119872" y="2487168"/>
            <a:ext cx="73152" cy="124358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2804160"/>
            <a:ext cx="609600" cy="609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19616" y="2755392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9119616" y="31699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por IP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609600" y="3901440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609600" y="3901440"/>
            <a:ext cx="73152" cy="1243584"/>
          </a:xfrm>
          <a:prstGeom prst="rect">
            <a:avLst/>
          </a:prstGeom>
          <a:solidFill>
            <a:srgbClr val="00B4AB"/>
          </a:solidFill>
          <a:ln w="12700">
            <a:solidFill>
              <a:srgbClr val="00B4AB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056" y="4218432"/>
            <a:ext cx="609600" cy="609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09344" y="4169664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1609344" y="4584192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programación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4364736" y="3901440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4364736" y="3901440"/>
            <a:ext cx="73152" cy="124358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4192" y="4218432"/>
            <a:ext cx="609600" cy="6096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64480" y="432816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8119872" y="3901440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8119872" y="3901440"/>
            <a:ext cx="73152" cy="124358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9328" y="4218432"/>
            <a:ext cx="609600" cy="60960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119616" y="432816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36"/>
          <p:cNvSpPr/>
          <p:nvPr/>
        </p:nvSpPr>
        <p:spPr>
          <a:xfrm>
            <a:off x="4364736" y="5315712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37"/>
          <p:cNvSpPr/>
          <p:nvPr/>
        </p:nvSpPr>
        <p:spPr>
          <a:xfrm>
            <a:off x="4364736" y="5315712"/>
            <a:ext cx="73152" cy="1243584"/>
          </a:xfrm>
          <a:prstGeom prst="rect">
            <a:avLst/>
          </a:prstGeom>
          <a:solidFill>
            <a:srgbClr val="FF7139"/>
          </a:solidFill>
          <a:ln w="12700">
            <a:solidFill>
              <a:srgbClr val="FF7139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4192" y="5632704"/>
            <a:ext cx="609600" cy="60960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5364480" y="5583936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39"/>
          <p:cNvSpPr/>
          <p:nvPr/>
        </p:nvSpPr>
        <p:spPr>
          <a:xfrm>
            <a:off x="5364480" y="5998464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/ Chrome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2200" b="1" kern="0" spc="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reales de la aplicación en desarrollo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D7DBB9D-55D4-D9BE-3687-B868384B947E}"/>
              </a:ext>
            </a:extLst>
          </p:cNvPr>
          <p:cNvGrpSpPr/>
          <p:nvPr/>
        </p:nvGrpSpPr>
        <p:grpSpPr>
          <a:xfrm>
            <a:off x="384048" y="987552"/>
            <a:ext cx="11439144" cy="5509260"/>
            <a:chOff x="384048" y="987552"/>
            <a:chExt cx="8467344" cy="3858768"/>
          </a:xfrm>
        </p:grpSpPr>
        <p:sp>
          <p:nvSpPr>
            <p:cNvPr id="6" name="Shape 4"/>
            <p:cNvSpPr/>
            <p:nvPr/>
          </p:nvSpPr>
          <p:spPr>
            <a:xfrm>
              <a:off x="384048" y="987552"/>
              <a:ext cx="2651760" cy="35661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u="sng"/>
            </a:p>
          </p:txBody>
        </p:sp>
        <p:sp>
          <p:nvSpPr>
            <p:cNvPr id="7" name="Shape 5"/>
            <p:cNvSpPr/>
            <p:nvPr/>
          </p:nvSpPr>
          <p:spPr>
            <a:xfrm>
              <a:off x="384048" y="987552"/>
              <a:ext cx="2651760" cy="54864"/>
            </a:xfrm>
            <a:prstGeom prst="rect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u="sng"/>
            </a:p>
          </p:txBody>
        </p:sp>
        <p:sp>
          <p:nvSpPr>
            <p:cNvPr id="8" name="Text 6"/>
            <p:cNvSpPr/>
            <p:nvPr/>
          </p:nvSpPr>
          <p:spPr>
            <a:xfrm>
              <a:off x="429768" y="1097280"/>
              <a:ext cx="2560320" cy="3108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u="sng" dirty="0">
                  <a:solidFill>
                    <a:srgbClr val="2A2F5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endParaRPr lang="en-US" sz="700" u="sng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84048" y="4590288"/>
              <a:ext cx="26517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u="sng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Módulo Alertas</a:t>
              </a:r>
              <a:endParaRPr lang="en-US" sz="950" u="sng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291840" y="987552"/>
              <a:ext cx="2651760" cy="35661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u="sng"/>
            </a:p>
          </p:txBody>
        </p:sp>
        <p:sp>
          <p:nvSpPr>
            <p:cNvPr id="11" name="Shape 9"/>
            <p:cNvSpPr/>
            <p:nvPr/>
          </p:nvSpPr>
          <p:spPr>
            <a:xfrm>
              <a:off x="3291840" y="987552"/>
              <a:ext cx="2651760" cy="54864"/>
            </a:xfrm>
            <a:prstGeom prst="rect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u="sng"/>
            </a:p>
          </p:txBody>
        </p:sp>
        <p:sp>
          <p:nvSpPr>
            <p:cNvPr id="12" name="Text 10"/>
            <p:cNvSpPr/>
            <p:nvPr/>
          </p:nvSpPr>
          <p:spPr>
            <a:xfrm>
              <a:off x="3337560" y="1097280"/>
              <a:ext cx="2560320" cy="3108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u="sng" dirty="0">
                  <a:solidFill>
                    <a:srgbClr val="2A2F5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endParaRPr lang="en-US" sz="700" u="sng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291840" y="4590288"/>
              <a:ext cx="26517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u="sng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Módulo Eventos</a:t>
              </a:r>
              <a:endParaRPr lang="en-US" sz="950" u="sng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199632" y="987552"/>
              <a:ext cx="2651760" cy="35661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u="sng"/>
            </a:p>
          </p:txBody>
        </p:sp>
        <p:sp>
          <p:nvSpPr>
            <p:cNvPr id="15" name="Shape 13"/>
            <p:cNvSpPr/>
            <p:nvPr/>
          </p:nvSpPr>
          <p:spPr>
            <a:xfrm>
              <a:off x="6199632" y="987552"/>
              <a:ext cx="2651760" cy="54864"/>
            </a:xfrm>
            <a:prstGeom prst="rect">
              <a:avLst/>
            </a:prstGeom>
            <a:solidFill>
              <a:srgbClr val="8892B0"/>
            </a:solidFill>
            <a:ln w="12700">
              <a:solidFill>
                <a:srgbClr val="8892B0"/>
              </a:solidFill>
              <a:prstDash val="solid"/>
            </a:ln>
          </p:spPr>
          <p:txBody>
            <a:bodyPr/>
            <a:lstStyle/>
            <a:p>
              <a:endParaRPr lang="es-CL" u="sng"/>
            </a:p>
          </p:txBody>
        </p:sp>
        <p:sp>
          <p:nvSpPr>
            <p:cNvPr id="16" name="Text 14"/>
            <p:cNvSpPr/>
            <p:nvPr/>
          </p:nvSpPr>
          <p:spPr>
            <a:xfrm>
              <a:off x="6245352" y="1097280"/>
              <a:ext cx="2560320" cy="3108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u="sng" dirty="0">
                  <a:solidFill>
                    <a:srgbClr val="2A2F5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endParaRPr lang="en-US" sz="700" u="sng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199632" y="4590288"/>
              <a:ext cx="26517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u="sng" dirty="0" err="1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Módulo</a:t>
              </a:r>
              <a:r>
                <a:rPr lang="en-US" sz="950" b="1" u="sng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Mercado</a:t>
              </a:r>
              <a:endParaRPr lang="en-US" sz="950" u="sng" dirty="0"/>
            </a:p>
          </p:txBody>
        </p:sp>
        <p:pic>
          <p:nvPicPr>
            <p:cNvPr id="110" name="Image1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4964" y="1115568"/>
              <a:ext cx="1709928" cy="3419856"/>
            </a:xfrm>
            <a:prstGeom prst="rect">
              <a:avLst/>
            </a:prstGeom>
          </p:spPr>
        </p:pic>
        <p:pic>
          <p:nvPicPr>
            <p:cNvPr id="111" name="Image1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62756" y="1115568"/>
              <a:ext cx="1709928" cy="3419856"/>
            </a:xfrm>
            <a:prstGeom prst="rect">
              <a:avLst/>
            </a:prstGeom>
          </p:spPr>
        </p:pic>
        <p:pic>
          <p:nvPicPr>
            <p:cNvPr id="112" name="Image1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70548" y="1115568"/>
              <a:ext cx="1709928" cy="34198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297680" y="0"/>
            <a:ext cx="32004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84048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" y="1783080"/>
            <a:ext cx="3200400" cy="27432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84048" y="1901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— Red Social Vecinal Multiplataforma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3042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busca ser la plataforma de referencia para la seguridad e integración comunitaria en Chile, combinando tecnología moderna con un enfoque humano y colaborativo.</a:t>
            </a:r>
            <a:endParaRPr lang="en-US" sz="1400" dirty="0"/>
          </a:p>
        </p:txBody>
      </p:sp>
      <p:pic>
        <p:nvPicPr>
          <p:cNvPr id="200" name="Image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-1"/>
            <a:ext cx="7620000" cy="68614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</TotalTime>
  <Words>1039</Words>
  <Application>Microsoft Office PowerPoint</Application>
  <PresentationFormat>Panorámica</PresentationFormat>
  <Paragraphs>325</Paragraphs>
  <Slides>13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Pinilla</dc:creator>
  <cp:lastModifiedBy>FRANCISCO ENRIQUE GONZALEZ MONSALVE</cp:lastModifiedBy>
  <cp:revision>11</cp:revision>
  <dcterms:created xsi:type="dcterms:W3CDTF">2026-04-09T22:56:05Z</dcterms:created>
  <dcterms:modified xsi:type="dcterms:W3CDTF">2026-05-30T00:07:51Z</dcterms:modified>
</cp:coreProperties>
</file>